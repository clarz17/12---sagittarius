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344" r:id="rId2"/>
    <p:sldId id="350" r:id="rId3"/>
    <p:sldId id="351" r:id="rId4"/>
    <p:sldId id="354" r:id="rId5"/>
    <p:sldId id="355" r:id="rId6"/>
    <p:sldId id="356" r:id="rId7"/>
    <p:sldId id="357" r:id="rId8"/>
    <p:sldId id="359" r:id="rId9"/>
    <p:sldId id="353" r:id="rId10"/>
    <p:sldId id="358" r:id="rId11"/>
    <p:sldId id="364" r:id="rId12"/>
    <p:sldId id="360" r:id="rId13"/>
    <p:sldId id="361" r:id="rId14"/>
    <p:sldId id="362" r:id="rId15"/>
    <p:sldId id="363" r:id="rId16"/>
    <p:sldId id="366" r:id="rId17"/>
    <p:sldId id="367" r:id="rId18"/>
    <p:sldId id="368" r:id="rId19"/>
  </p:sldIdLst>
  <p:sldSz cx="18288000" cy="10287000"/>
  <p:notesSz cx="6858000" cy="9144000"/>
  <p:embeddedFontLst>
    <p:embeddedFont>
      <p:font typeface="Roboto" panose="02000000000000000000" pitchFamily="2" charset="0"/>
      <p:regular r:id="rId21"/>
      <p:bold r:id="rId22"/>
      <p:italic r:id="rId23"/>
      <p:boldItalic r:id="rId24"/>
    </p:embeddedFont>
    <p:embeddedFont>
      <p:font typeface="Roboto Bold" panose="02000000000000000000" charset="0"/>
      <p:regular r:id="rId25"/>
      <p:bold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a:srgbClr val="6B212E"/>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29875D-D690-4D5C-9C1D-49E0C413DCB5}" v="108" dt="2026-09-30T01:47:29.9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7337" autoAdjust="0"/>
  </p:normalViewPr>
  <p:slideViewPr>
    <p:cSldViewPr>
      <p:cViewPr varScale="1">
        <p:scale>
          <a:sx n="48" d="100"/>
          <a:sy n="48" d="100"/>
        </p:scale>
        <p:origin x="1090" y="106"/>
      </p:cViewPr>
      <p:guideLst>
        <p:guide orient="horz" pos="2160"/>
        <p:guide pos="2880"/>
      </p:guideLst>
    </p:cSldViewPr>
  </p:slideViewPr>
  <p:outlineViewPr>
    <p:cViewPr>
      <p:scale>
        <a:sx n="33" d="100"/>
        <a:sy n="33" d="100"/>
      </p:scale>
      <p:origin x="0" y="0"/>
    </p:cViewPr>
  </p:outlineViewPr>
  <p:notesTextViewPr>
    <p:cViewPr>
      <p:scale>
        <a:sx n="133" d="100"/>
        <a:sy n="133"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rnzmndz16@gmail.com" userId="5ca299f11ea6acc5" providerId="LiveId" clId="{2D135445-04BA-4A9E-ACC9-CB6E58E7177C}"/>
    <pc:docChg chg="undo custSel addSld delSld modSld sldOrd">
      <pc:chgData name="clrnzmndz16@gmail.com" userId="5ca299f11ea6acc5" providerId="LiveId" clId="{2D135445-04BA-4A9E-ACC9-CB6E58E7177C}" dt="2026-09-30T02:54:25.883" v="1295" actId="20577"/>
      <pc:docMkLst>
        <pc:docMk/>
      </pc:docMkLst>
      <pc:sldChg chg="delSp modSp mod modNotesTx">
        <pc:chgData name="clrnzmndz16@gmail.com" userId="5ca299f11ea6acc5" providerId="LiveId" clId="{2D135445-04BA-4A9E-ACC9-CB6E58E7177C}" dt="2026-09-30T02:54:25.883" v="1295" actId="20577"/>
        <pc:sldMkLst>
          <pc:docMk/>
          <pc:sldMk cId="370634630" sldId="344"/>
        </pc:sldMkLst>
        <pc:spChg chg="mod">
          <ac:chgData name="clrnzmndz16@gmail.com" userId="5ca299f11ea6acc5" providerId="LiveId" clId="{2D135445-04BA-4A9E-ACC9-CB6E58E7177C}" dt="2026-09-27T07:10:34.307" v="203" actId="1076"/>
          <ac:spMkLst>
            <pc:docMk/>
            <pc:sldMk cId="370634630" sldId="344"/>
            <ac:spMk id="15" creationId="{6DAE008B-5523-FF12-6AE9-F5BB3F6607AE}"/>
          </ac:spMkLst>
        </pc:spChg>
        <pc:spChg chg="mod">
          <ac:chgData name="clrnzmndz16@gmail.com" userId="5ca299f11ea6acc5" providerId="LiveId" clId="{2D135445-04BA-4A9E-ACC9-CB6E58E7177C}" dt="2026-09-27T07:10:40.286" v="204" actId="1076"/>
          <ac:spMkLst>
            <pc:docMk/>
            <pc:sldMk cId="370634630" sldId="344"/>
            <ac:spMk id="16" creationId="{96846C5C-6FEE-81FA-36B7-E0550FD06D3A}"/>
          </ac:spMkLst>
        </pc:spChg>
        <pc:spChg chg="mod">
          <ac:chgData name="clrnzmndz16@gmail.com" userId="5ca299f11ea6acc5" providerId="LiveId" clId="{2D135445-04BA-4A9E-ACC9-CB6E58E7177C}" dt="2026-09-27T07:10:55.106" v="206" actId="1076"/>
          <ac:spMkLst>
            <pc:docMk/>
            <pc:sldMk cId="370634630" sldId="344"/>
            <ac:spMk id="17" creationId="{3F4CAC3D-C647-07BB-4864-434C43AA47A7}"/>
          </ac:spMkLst>
        </pc:spChg>
        <pc:spChg chg="mod">
          <ac:chgData name="clrnzmndz16@gmail.com" userId="5ca299f11ea6acc5" providerId="LiveId" clId="{2D135445-04BA-4A9E-ACC9-CB6E58E7177C}" dt="2026-09-27T07:04:43.597" v="179" actId="1076"/>
          <ac:spMkLst>
            <pc:docMk/>
            <pc:sldMk cId="370634630" sldId="344"/>
            <ac:spMk id="18" creationId="{638AD71B-555D-91AA-A2EF-6E8FC5CC236E}"/>
          </ac:spMkLst>
        </pc:spChg>
        <pc:spChg chg="mod">
          <ac:chgData name="clrnzmndz16@gmail.com" userId="5ca299f11ea6acc5" providerId="LiveId" clId="{2D135445-04BA-4A9E-ACC9-CB6E58E7177C}" dt="2026-09-27T07:04:37.949" v="178" actId="1076"/>
          <ac:spMkLst>
            <pc:docMk/>
            <pc:sldMk cId="370634630" sldId="344"/>
            <ac:spMk id="19" creationId="{FCE39B8B-DAAD-3387-9A7F-F2D4A2A03C06}"/>
          </ac:spMkLst>
        </pc:spChg>
        <pc:picChg chg="mod">
          <ac:chgData name="clrnzmndz16@gmail.com" userId="5ca299f11ea6acc5" providerId="LiveId" clId="{2D135445-04BA-4A9E-ACC9-CB6E58E7177C}" dt="2026-09-29T13:52:10.147" v="1185" actId="1076"/>
          <ac:picMkLst>
            <pc:docMk/>
            <pc:sldMk cId="370634630" sldId="344"/>
            <ac:picMk id="5" creationId="{912B8DCF-B511-8B14-0031-7175DD383C5B}"/>
          </ac:picMkLst>
        </pc:picChg>
      </pc:sldChg>
      <pc:sldChg chg="addSp delSp modSp mod modNotesTx">
        <pc:chgData name="clrnzmndz16@gmail.com" userId="5ca299f11ea6acc5" providerId="LiveId" clId="{2D135445-04BA-4A9E-ACC9-CB6E58E7177C}" dt="2026-09-30T02:03:35.226" v="1294" actId="1076"/>
        <pc:sldMkLst>
          <pc:docMk/>
          <pc:sldMk cId="773041394" sldId="350"/>
        </pc:sldMkLst>
        <pc:spChg chg="add del mod">
          <ac:chgData name="clrnzmndz16@gmail.com" userId="5ca299f11ea6acc5" providerId="LiveId" clId="{2D135445-04BA-4A9E-ACC9-CB6E58E7177C}" dt="2026-09-29T03:46:22.026" v="1143"/>
          <ac:spMkLst>
            <pc:docMk/>
            <pc:sldMk cId="773041394" sldId="350"/>
            <ac:spMk id="2" creationId="{587A934B-865C-6C14-20DB-67E4A82AE8AA}"/>
          </ac:spMkLst>
        </pc:spChg>
        <pc:spChg chg="mod">
          <ac:chgData name="clrnzmndz16@gmail.com" userId="5ca299f11ea6acc5" providerId="LiveId" clId="{2D135445-04BA-4A9E-ACC9-CB6E58E7177C}" dt="2026-09-30T02:03:35.226" v="1294" actId="1076"/>
          <ac:spMkLst>
            <pc:docMk/>
            <pc:sldMk cId="773041394" sldId="350"/>
            <ac:spMk id="4" creationId="{79CD4975-7576-E8C9-5CB2-C28463512C14}"/>
          </ac:spMkLst>
        </pc:spChg>
        <pc:spChg chg="mod">
          <ac:chgData name="clrnzmndz16@gmail.com" userId="5ca299f11ea6acc5" providerId="LiveId" clId="{2D135445-04BA-4A9E-ACC9-CB6E58E7177C}" dt="2026-09-29T13:33:32.175" v="1171" actId="20577"/>
          <ac:spMkLst>
            <pc:docMk/>
            <pc:sldMk cId="773041394" sldId="350"/>
            <ac:spMk id="5" creationId="{087A46B2-2DBB-655D-D743-97F4239EA856}"/>
          </ac:spMkLst>
        </pc:spChg>
        <pc:spChg chg="mod">
          <ac:chgData name="clrnzmndz16@gmail.com" userId="5ca299f11ea6acc5" providerId="LiveId" clId="{2D135445-04BA-4A9E-ACC9-CB6E58E7177C}" dt="2026-09-29T02:39:24.549" v="1121" actId="123"/>
          <ac:spMkLst>
            <pc:docMk/>
            <pc:sldMk cId="773041394" sldId="350"/>
            <ac:spMk id="13" creationId="{DEC664A9-3D02-2CBA-4D2C-23F270D5977E}"/>
          </ac:spMkLst>
        </pc:spChg>
      </pc:sldChg>
      <pc:sldChg chg="addSp delSp modSp mod modNotesTx">
        <pc:chgData name="clrnzmndz16@gmail.com" userId="5ca299f11ea6acc5" providerId="LiveId" clId="{2D135445-04BA-4A9E-ACC9-CB6E58E7177C}" dt="2026-09-30T01:42:58.660" v="1271" actId="20577"/>
        <pc:sldMkLst>
          <pc:docMk/>
          <pc:sldMk cId="3216366753" sldId="351"/>
        </pc:sldMkLst>
        <pc:spChg chg="mod">
          <ac:chgData name="clrnzmndz16@gmail.com" userId="5ca299f11ea6acc5" providerId="LiveId" clId="{2D135445-04BA-4A9E-ACC9-CB6E58E7177C}" dt="2026-09-27T19:52:56.663" v="283" actId="1076"/>
          <ac:spMkLst>
            <pc:docMk/>
            <pc:sldMk cId="3216366753" sldId="351"/>
            <ac:spMk id="4" creationId="{1CEF6F1F-3D7D-30EE-8C1E-7B06B53C6921}"/>
          </ac:spMkLst>
        </pc:spChg>
        <pc:graphicFrameChg chg="add mod modGraphic">
          <ac:chgData name="clrnzmndz16@gmail.com" userId="5ca299f11ea6acc5" providerId="LiveId" clId="{2D135445-04BA-4A9E-ACC9-CB6E58E7177C}" dt="2026-09-29T03:46:39.726" v="1144" actId="1076"/>
          <ac:graphicFrameMkLst>
            <pc:docMk/>
            <pc:sldMk cId="3216366753" sldId="351"/>
            <ac:graphicFrameMk id="6" creationId="{DDDE95E0-047C-B11E-969D-4AF1E2632E47}"/>
          </ac:graphicFrameMkLst>
        </pc:graphicFrameChg>
      </pc:sldChg>
      <pc:sldChg chg="addSp delSp modSp mod">
        <pc:chgData name="clrnzmndz16@gmail.com" userId="5ca299f11ea6acc5" providerId="LiveId" clId="{2D135445-04BA-4A9E-ACC9-CB6E58E7177C}" dt="2026-09-28T13:19:23.153" v="1028" actId="1076"/>
        <pc:sldMkLst>
          <pc:docMk/>
          <pc:sldMk cId="4137131409" sldId="353"/>
        </pc:sldMkLst>
        <pc:picChg chg="add mod">
          <ac:chgData name="clrnzmndz16@gmail.com" userId="5ca299f11ea6acc5" providerId="LiveId" clId="{2D135445-04BA-4A9E-ACC9-CB6E58E7177C}" dt="2026-09-28T13:19:23.153" v="1028" actId="1076"/>
          <ac:picMkLst>
            <pc:docMk/>
            <pc:sldMk cId="4137131409" sldId="353"/>
            <ac:picMk id="5" creationId="{73B177ED-E72F-CFE2-3756-187F5C603789}"/>
          </ac:picMkLst>
        </pc:picChg>
      </pc:sldChg>
      <pc:sldChg chg="delSp modSp add mod ord">
        <pc:chgData name="clrnzmndz16@gmail.com" userId="5ca299f11ea6acc5" providerId="LiveId" clId="{2D135445-04BA-4A9E-ACC9-CB6E58E7177C}" dt="2026-09-29T02:39:42.152" v="1124" actId="123"/>
        <pc:sldMkLst>
          <pc:docMk/>
          <pc:sldMk cId="74364637" sldId="354"/>
        </pc:sldMkLst>
        <pc:spChg chg="mod">
          <ac:chgData name="clrnzmndz16@gmail.com" userId="5ca299f11ea6acc5" providerId="LiveId" clId="{2D135445-04BA-4A9E-ACC9-CB6E58E7177C}" dt="2026-09-29T02:39:42.152" v="1124" actId="123"/>
          <ac:spMkLst>
            <pc:docMk/>
            <pc:sldMk cId="74364637" sldId="354"/>
            <ac:spMk id="13" creationId="{461EC53C-7DAB-B802-11B2-0FBE3708D219}"/>
          </ac:spMkLst>
        </pc:spChg>
      </pc:sldChg>
      <pc:sldChg chg="delSp modSp add mod">
        <pc:chgData name="clrnzmndz16@gmail.com" userId="5ca299f11ea6acc5" providerId="LiveId" clId="{2D135445-04BA-4A9E-ACC9-CB6E58E7177C}" dt="2026-09-29T02:39:50.035" v="1125" actId="123"/>
        <pc:sldMkLst>
          <pc:docMk/>
          <pc:sldMk cId="2076087358" sldId="355"/>
        </pc:sldMkLst>
        <pc:spChg chg="mod">
          <ac:chgData name="clrnzmndz16@gmail.com" userId="5ca299f11ea6acc5" providerId="LiveId" clId="{2D135445-04BA-4A9E-ACC9-CB6E58E7177C}" dt="2026-09-29T02:39:50.035" v="1125" actId="123"/>
          <ac:spMkLst>
            <pc:docMk/>
            <pc:sldMk cId="2076087358" sldId="355"/>
            <ac:spMk id="13" creationId="{8F4F9E24-F1C7-C0FE-9943-86B31780CC46}"/>
          </ac:spMkLst>
        </pc:spChg>
      </pc:sldChg>
      <pc:sldChg chg="delSp modSp add mod">
        <pc:chgData name="clrnzmndz16@gmail.com" userId="5ca299f11ea6acc5" providerId="LiveId" clId="{2D135445-04BA-4A9E-ACC9-CB6E58E7177C}" dt="2026-09-29T02:39:56.263" v="1126" actId="123"/>
        <pc:sldMkLst>
          <pc:docMk/>
          <pc:sldMk cId="4264133555" sldId="356"/>
        </pc:sldMkLst>
        <pc:spChg chg="mod">
          <ac:chgData name="clrnzmndz16@gmail.com" userId="5ca299f11ea6acc5" providerId="LiveId" clId="{2D135445-04BA-4A9E-ACC9-CB6E58E7177C}" dt="2026-09-29T02:39:56.263" v="1126" actId="123"/>
          <ac:spMkLst>
            <pc:docMk/>
            <pc:sldMk cId="4264133555" sldId="356"/>
            <ac:spMk id="13" creationId="{7AC5F3D4-BF7D-3328-6838-EF3E09EA722A}"/>
          </ac:spMkLst>
        </pc:spChg>
      </pc:sldChg>
      <pc:sldChg chg="modSp add mod modNotesTx">
        <pc:chgData name="clrnzmndz16@gmail.com" userId="5ca299f11ea6acc5" providerId="LiveId" clId="{2D135445-04BA-4A9E-ACC9-CB6E58E7177C}" dt="2026-09-30T01:48:26.497" v="1285" actId="20577"/>
        <pc:sldMkLst>
          <pc:docMk/>
          <pc:sldMk cId="1628495124" sldId="357"/>
        </pc:sldMkLst>
        <pc:spChg chg="mod">
          <ac:chgData name="clrnzmndz16@gmail.com" userId="5ca299f11ea6acc5" providerId="LiveId" clId="{2D135445-04BA-4A9E-ACC9-CB6E58E7177C}" dt="2026-09-30T01:48:26.497" v="1285" actId="20577"/>
          <ac:spMkLst>
            <pc:docMk/>
            <pc:sldMk cId="1628495124" sldId="357"/>
            <ac:spMk id="5" creationId="{D0E1CF17-948C-1D40-0508-9DC35361CED5}"/>
          </ac:spMkLst>
        </pc:spChg>
        <pc:spChg chg="mod">
          <ac:chgData name="clrnzmndz16@gmail.com" userId="5ca299f11ea6acc5" providerId="LiveId" clId="{2D135445-04BA-4A9E-ACC9-CB6E58E7177C}" dt="2026-09-29T14:38:53.808" v="1231" actId="2711"/>
          <ac:spMkLst>
            <pc:docMk/>
            <pc:sldMk cId="1628495124" sldId="357"/>
            <ac:spMk id="13" creationId="{47F00576-8415-A71C-8765-45FBD38D075D}"/>
          </ac:spMkLst>
        </pc:spChg>
      </pc:sldChg>
      <pc:sldChg chg="addSp delSp modSp add mod">
        <pc:chgData name="clrnzmndz16@gmail.com" userId="5ca299f11ea6acc5" providerId="LiveId" clId="{2D135445-04BA-4A9E-ACC9-CB6E58E7177C}" dt="2026-09-28T13:19:49.727" v="1034" actId="1076"/>
        <pc:sldMkLst>
          <pc:docMk/>
          <pc:sldMk cId="2965693880" sldId="358"/>
        </pc:sldMkLst>
        <pc:picChg chg="add mod">
          <ac:chgData name="clrnzmndz16@gmail.com" userId="5ca299f11ea6acc5" providerId="LiveId" clId="{2D135445-04BA-4A9E-ACC9-CB6E58E7177C}" dt="2026-09-28T13:19:49.727" v="1034" actId="1076"/>
          <ac:picMkLst>
            <pc:docMk/>
            <pc:sldMk cId="2965693880" sldId="358"/>
            <ac:picMk id="5" creationId="{7C74F009-8EA5-AC2A-E536-5D347DE656D9}"/>
          </ac:picMkLst>
        </pc:picChg>
      </pc:sldChg>
      <pc:sldChg chg="addSp delSp modSp add mod ord">
        <pc:chgData name="clrnzmndz16@gmail.com" userId="5ca299f11ea6acc5" providerId="LiveId" clId="{2D135445-04BA-4A9E-ACC9-CB6E58E7177C}" dt="2026-09-30T01:55:56.853" v="1290" actId="14100"/>
        <pc:sldMkLst>
          <pc:docMk/>
          <pc:sldMk cId="4018032254" sldId="359"/>
        </pc:sldMkLst>
        <pc:picChg chg="add del mod">
          <ac:chgData name="clrnzmndz16@gmail.com" userId="5ca299f11ea6acc5" providerId="LiveId" clId="{2D135445-04BA-4A9E-ACC9-CB6E58E7177C}" dt="2026-09-29T14:38:05.277" v="1224" actId="478"/>
          <ac:picMkLst>
            <pc:docMk/>
            <pc:sldMk cId="4018032254" sldId="359"/>
            <ac:picMk id="4" creationId="{0FD39228-8590-B06B-B066-71CBE6E5D451}"/>
          </ac:picMkLst>
        </pc:picChg>
        <pc:picChg chg="add del mod">
          <ac:chgData name="clrnzmndz16@gmail.com" userId="5ca299f11ea6acc5" providerId="LiveId" clId="{2D135445-04BA-4A9E-ACC9-CB6E58E7177C}" dt="2026-09-29T14:19:04.206" v="1197" actId="478"/>
          <ac:picMkLst>
            <pc:docMk/>
            <pc:sldMk cId="4018032254" sldId="359"/>
            <ac:picMk id="5" creationId="{017BF668-32F2-0322-D33C-817B53D59368}"/>
          </ac:picMkLst>
        </pc:picChg>
        <pc:picChg chg="add mod">
          <ac:chgData name="clrnzmndz16@gmail.com" userId="5ca299f11ea6acc5" providerId="LiveId" clId="{2D135445-04BA-4A9E-ACC9-CB6E58E7177C}" dt="2026-09-30T01:55:56.853" v="1290" actId="14100"/>
          <ac:picMkLst>
            <pc:docMk/>
            <pc:sldMk cId="4018032254" sldId="359"/>
            <ac:picMk id="5" creationId="{6751A7BD-CAB6-2FB0-ADF2-6BDFAC691F4F}"/>
          </ac:picMkLst>
        </pc:picChg>
      </pc:sldChg>
      <pc:sldChg chg="addSp delSp modSp add mod">
        <pc:chgData name="clrnzmndz16@gmail.com" userId="5ca299f11ea6acc5" providerId="LiveId" clId="{2D135445-04BA-4A9E-ACC9-CB6E58E7177C}" dt="2026-09-28T13:20:33.865" v="1047" actId="1076"/>
        <pc:sldMkLst>
          <pc:docMk/>
          <pc:sldMk cId="1880499357" sldId="360"/>
        </pc:sldMkLst>
        <pc:picChg chg="add mod">
          <ac:chgData name="clrnzmndz16@gmail.com" userId="5ca299f11ea6acc5" providerId="LiveId" clId="{2D135445-04BA-4A9E-ACC9-CB6E58E7177C}" dt="2026-09-28T13:20:33.865" v="1047" actId="1076"/>
          <ac:picMkLst>
            <pc:docMk/>
            <pc:sldMk cId="1880499357" sldId="360"/>
            <ac:picMk id="5" creationId="{6C94AF64-B84C-8B72-C9FF-D08E7F40B33A}"/>
          </ac:picMkLst>
        </pc:picChg>
      </pc:sldChg>
      <pc:sldChg chg="addSp delSp modSp add mod">
        <pc:chgData name="clrnzmndz16@gmail.com" userId="5ca299f11ea6acc5" providerId="LiveId" clId="{2D135445-04BA-4A9E-ACC9-CB6E58E7177C}" dt="2026-09-28T13:20:59.464" v="1054" actId="1076"/>
        <pc:sldMkLst>
          <pc:docMk/>
          <pc:sldMk cId="1700314756" sldId="361"/>
        </pc:sldMkLst>
        <pc:picChg chg="add mod">
          <ac:chgData name="clrnzmndz16@gmail.com" userId="5ca299f11ea6acc5" providerId="LiveId" clId="{2D135445-04BA-4A9E-ACC9-CB6E58E7177C}" dt="2026-09-28T13:20:59.464" v="1054" actId="1076"/>
          <ac:picMkLst>
            <pc:docMk/>
            <pc:sldMk cId="1700314756" sldId="361"/>
            <ac:picMk id="5" creationId="{A888E9E2-D5B9-43D5-D99B-7B583416C9A7}"/>
          </ac:picMkLst>
        </pc:picChg>
      </pc:sldChg>
      <pc:sldChg chg="addSp delSp modSp add mod">
        <pc:chgData name="clrnzmndz16@gmail.com" userId="5ca299f11ea6acc5" providerId="LiveId" clId="{2D135445-04BA-4A9E-ACC9-CB6E58E7177C}" dt="2026-09-28T13:21:27.154" v="1057" actId="1076"/>
        <pc:sldMkLst>
          <pc:docMk/>
          <pc:sldMk cId="3350744040" sldId="362"/>
        </pc:sldMkLst>
        <pc:picChg chg="add mod">
          <ac:chgData name="clrnzmndz16@gmail.com" userId="5ca299f11ea6acc5" providerId="LiveId" clId="{2D135445-04BA-4A9E-ACC9-CB6E58E7177C}" dt="2026-09-28T13:21:27.154" v="1057" actId="1076"/>
          <ac:picMkLst>
            <pc:docMk/>
            <pc:sldMk cId="3350744040" sldId="362"/>
            <ac:picMk id="5" creationId="{7FD3ABB9-CFCA-722F-B946-75744F4B43F8}"/>
          </ac:picMkLst>
        </pc:picChg>
      </pc:sldChg>
      <pc:sldChg chg="addSp delSp modSp add mod">
        <pc:chgData name="clrnzmndz16@gmail.com" userId="5ca299f11ea6acc5" providerId="LiveId" clId="{2D135445-04BA-4A9E-ACC9-CB6E58E7177C}" dt="2026-09-28T13:21:52.287" v="1065" actId="1076"/>
        <pc:sldMkLst>
          <pc:docMk/>
          <pc:sldMk cId="1167279265" sldId="363"/>
        </pc:sldMkLst>
        <pc:picChg chg="add mod">
          <ac:chgData name="clrnzmndz16@gmail.com" userId="5ca299f11ea6acc5" providerId="LiveId" clId="{2D135445-04BA-4A9E-ACC9-CB6E58E7177C}" dt="2026-09-28T13:21:52.287" v="1065" actId="1076"/>
          <ac:picMkLst>
            <pc:docMk/>
            <pc:sldMk cId="1167279265" sldId="363"/>
            <ac:picMk id="5" creationId="{5726129F-E35D-A4BC-CAFB-EFC44317BC8D}"/>
          </ac:picMkLst>
        </pc:picChg>
      </pc:sldChg>
      <pc:sldChg chg="addSp delSp modSp add mod">
        <pc:chgData name="clrnzmndz16@gmail.com" userId="5ca299f11ea6acc5" providerId="LiveId" clId="{2D135445-04BA-4A9E-ACC9-CB6E58E7177C}" dt="2026-09-28T13:20:13.201" v="1042" actId="1076"/>
        <pc:sldMkLst>
          <pc:docMk/>
          <pc:sldMk cId="3315848549" sldId="364"/>
        </pc:sldMkLst>
        <pc:picChg chg="add mod">
          <ac:chgData name="clrnzmndz16@gmail.com" userId="5ca299f11ea6acc5" providerId="LiveId" clId="{2D135445-04BA-4A9E-ACC9-CB6E58E7177C}" dt="2026-09-28T13:20:13.201" v="1042" actId="1076"/>
          <ac:picMkLst>
            <pc:docMk/>
            <pc:sldMk cId="3315848549" sldId="364"/>
            <ac:picMk id="5" creationId="{BE5B5072-16B4-2053-E4DE-D24B1E259917}"/>
          </ac:picMkLst>
        </pc:picChg>
      </pc:sldChg>
      <pc:sldChg chg="addSp delSp modSp add mod ord">
        <pc:chgData name="clrnzmndz16@gmail.com" userId="5ca299f11ea6acc5" providerId="LiveId" clId="{2D135445-04BA-4A9E-ACC9-CB6E58E7177C}" dt="2026-09-30T01:48:10.108" v="1283" actId="20577"/>
        <pc:sldMkLst>
          <pc:docMk/>
          <pc:sldMk cId="502622888" sldId="366"/>
        </pc:sldMkLst>
        <pc:spChg chg="mod">
          <ac:chgData name="clrnzmndz16@gmail.com" userId="5ca299f11ea6acc5" providerId="LiveId" clId="{2D135445-04BA-4A9E-ACC9-CB6E58E7177C}" dt="2026-09-30T01:48:10.108" v="1283" actId="20577"/>
          <ac:spMkLst>
            <pc:docMk/>
            <pc:sldMk cId="502622888" sldId="366"/>
            <ac:spMk id="5" creationId="{001BA72A-2A56-83E1-5B5B-936F809B40AC}"/>
          </ac:spMkLst>
        </pc:spChg>
        <pc:spChg chg="mod">
          <ac:chgData name="clrnzmndz16@gmail.com" userId="5ca299f11ea6acc5" providerId="LiveId" clId="{2D135445-04BA-4A9E-ACC9-CB6E58E7177C}" dt="2026-09-29T14:37:51.694" v="1223" actId="20577"/>
          <ac:spMkLst>
            <pc:docMk/>
            <pc:sldMk cId="502622888" sldId="366"/>
            <ac:spMk id="13" creationId="{C752399A-FD52-7097-90D1-18979881FE70}"/>
          </ac:spMkLst>
        </pc:spChg>
      </pc:sldChg>
      <pc:sldChg chg="addSp delSp modSp add mod ord">
        <pc:chgData name="clrnzmndz16@gmail.com" userId="5ca299f11ea6acc5" providerId="LiveId" clId="{2D135445-04BA-4A9E-ACC9-CB6E58E7177C}" dt="2026-09-30T01:54:20.954" v="1287"/>
        <pc:sldMkLst>
          <pc:docMk/>
          <pc:sldMk cId="148534612" sldId="367"/>
        </pc:sldMkLst>
        <pc:spChg chg="mod">
          <ac:chgData name="clrnzmndz16@gmail.com" userId="5ca299f11ea6acc5" providerId="LiveId" clId="{2D135445-04BA-4A9E-ACC9-CB6E58E7177C}" dt="2026-09-30T01:48:14.570" v="1284" actId="20577"/>
          <ac:spMkLst>
            <pc:docMk/>
            <pc:sldMk cId="148534612" sldId="367"/>
            <ac:spMk id="5" creationId="{F1DBC21B-A583-16E3-FCC6-4690098D89B2}"/>
          </ac:spMkLst>
        </pc:spChg>
        <pc:spChg chg="mod">
          <ac:chgData name="clrnzmndz16@gmail.com" userId="5ca299f11ea6acc5" providerId="LiveId" clId="{2D135445-04BA-4A9E-ACC9-CB6E58E7177C}" dt="2026-09-29T02:40:39.495" v="1130" actId="1076"/>
          <ac:spMkLst>
            <pc:docMk/>
            <pc:sldMk cId="148534612" sldId="367"/>
            <ac:spMk id="13" creationId="{E58C9C51-F23A-BA9B-739C-3D56F292ADA2}"/>
          </ac:spMkLst>
        </pc:spChg>
      </pc:sldChg>
      <pc:sldChg chg="modSp add mod">
        <pc:chgData name="clrnzmndz16@gmail.com" userId="5ca299f11ea6acc5" providerId="LiveId" clId="{2D135445-04BA-4A9E-ACC9-CB6E58E7177C}" dt="2026-09-29T02:41:19.617" v="1140" actId="20577"/>
        <pc:sldMkLst>
          <pc:docMk/>
          <pc:sldMk cId="1763761026" sldId="368"/>
        </pc:sldMkLst>
        <pc:spChg chg="mod">
          <ac:chgData name="clrnzmndz16@gmail.com" userId="5ca299f11ea6acc5" providerId="LiveId" clId="{2D135445-04BA-4A9E-ACC9-CB6E58E7177C}" dt="2026-09-27T20:55:30.529" v="904" actId="1076"/>
          <ac:spMkLst>
            <pc:docMk/>
            <pc:sldMk cId="1763761026" sldId="368"/>
            <ac:spMk id="5" creationId="{A6454ADA-3545-8855-29B0-56B438E9841E}"/>
          </ac:spMkLst>
        </pc:spChg>
        <pc:spChg chg="mod">
          <ac:chgData name="clrnzmndz16@gmail.com" userId="5ca299f11ea6acc5" providerId="LiveId" clId="{2D135445-04BA-4A9E-ACC9-CB6E58E7177C}" dt="2026-09-29T02:41:19.617" v="1140" actId="20577"/>
          <ac:spMkLst>
            <pc:docMk/>
            <pc:sldMk cId="1763761026" sldId="368"/>
            <ac:spMk id="13" creationId="{791684FC-6194-2FB6-4197-FF4B39A6E80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22929C-D286-4561-8504-0A430E317367}" type="datetimeFigureOut">
              <a:rPr lang="en-PH" smtClean="0"/>
              <a:t>9/30/2026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080DDE-1E17-42FD-AC87-BF33AE41CCE6}" type="slidenum">
              <a:rPr lang="en-PH" smtClean="0"/>
              <a:t>‹#›</a:t>
            </a:fld>
            <a:endParaRPr lang="en-PH"/>
          </a:p>
        </p:txBody>
      </p:sp>
    </p:spTree>
    <p:extLst>
      <p:ext uri="{BB962C8B-B14F-4D97-AF65-F5344CB8AC3E}">
        <p14:creationId xmlns:p14="http://schemas.microsoft.com/office/powerpoint/2010/main" val="3274150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a:t>
            </a:r>
            <a:endParaRPr lang="en-PH" dirty="0"/>
          </a:p>
        </p:txBody>
      </p:sp>
      <p:sp>
        <p:nvSpPr>
          <p:cNvPr id="4" name="Slide Number Placeholder 3"/>
          <p:cNvSpPr>
            <a:spLocks noGrp="1"/>
          </p:cNvSpPr>
          <p:nvPr>
            <p:ph type="sldNum" sz="quarter" idx="5"/>
          </p:nvPr>
        </p:nvSpPr>
        <p:spPr/>
        <p:txBody>
          <a:bodyPr/>
          <a:lstStyle/>
          <a:p>
            <a:fld id="{CC080DDE-1E17-42FD-AC87-BF33AE41CCE6}" type="slidenum">
              <a:rPr lang="en-PH" smtClean="0"/>
              <a:t>1</a:t>
            </a:fld>
            <a:endParaRPr lang="en-PH"/>
          </a:p>
        </p:txBody>
      </p:sp>
    </p:spTree>
    <p:extLst>
      <p:ext uri="{BB962C8B-B14F-4D97-AF65-F5344CB8AC3E}">
        <p14:creationId xmlns:p14="http://schemas.microsoft.com/office/powerpoint/2010/main" val="3746186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b="0" i="0" kern="1200" dirty="0">
                <a:solidFill>
                  <a:schemeClr val="tx1"/>
                </a:solidFill>
                <a:effectLst/>
                <a:latin typeface="+mn-lt"/>
                <a:ea typeface="+mn-ea"/>
                <a:cs typeface="+mn-cs"/>
              </a:rPr>
              <a:t>MAIN IDEA</a:t>
            </a:r>
            <a:br>
              <a:rPr lang="en-PH" sz="1200" b="0" i="0" kern="1200" dirty="0">
                <a:solidFill>
                  <a:schemeClr val="tx1"/>
                </a:solidFill>
                <a:effectLst/>
                <a:latin typeface="+mn-lt"/>
                <a:ea typeface="+mn-ea"/>
                <a:cs typeface="+mn-cs"/>
              </a:rPr>
            </a:br>
            <a:r>
              <a:rPr lang="en-PH" sz="1200" b="0" i="0" kern="1200" dirty="0">
                <a:solidFill>
                  <a:schemeClr val="tx1"/>
                </a:solidFill>
                <a:effectLst/>
                <a:latin typeface="+mn-lt"/>
                <a:ea typeface="+mn-ea"/>
                <a:cs typeface="+mn-cs"/>
              </a:rPr>
              <a:t>The study focuses on the factors that affect how Grade 12 students communicate with research participants while conducting research in Practical Research 1.</a:t>
            </a:r>
          </a:p>
          <a:p>
            <a:endParaRPr lang="en-PH" dirty="0"/>
          </a:p>
          <a:p>
            <a:r>
              <a:rPr lang="en-PH" sz="1200" b="0" i="0" kern="1200" dirty="0">
                <a:solidFill>
                  <a:schemeClr val="tx1"/>
                </a:solidFill>
                <a:effectLst/>
                <a:latin typeface="+mn-lt"/>
                <a:ea typeface="+mn-ea"/>
                <a:cs typeface="+mn-cs"/>
              </a:rPr>
              <a:t>RESEARCH PROBLEM</a:t>
            </a:r>
          </a:p>
          <a:p>
            <a:r>
              <a:rPr lang="en-PH" sz="1200" b="0" i="0" kern="1200" dirty="0">
                <a:solidFill>
                  <a:schemeClr val="tx1"/>
                </a:solidFill>
                <a:effectLst/>
                <a:latin typeface="+mn-lt"/>
                <a:ea typeface="+mn-ea"/>
                <a:cs typeface="+mn-cs"/>
              </a:rPr>
              <a:t>Some students may experience difficulties when communicating with research participants, such as difficulty approaching participants, lack of confidence, unclear communication, limited cooperation, or difficulty getting responses.</a:t>
            </a:r>
            <a:br>
              <a:rPr lang="en-PH" sz="1200" b="0" i="0" kern="1200" dirty="0">
                <a:solidFill>
                  <a:schemeClr val="tx1"/>
                </a:solidFill>
                <a:effectLst/>
                <a:latin typeface="+mn-lt"/>
                <a:ea typeface="+mn-ea"/>
                <a:cs typeface="+mn-cs"/>
              </a:rPr>
            </a:br>
            <a:br>
              <a:rPr lang="en-PH" sz="1200" b="0" i="0" kern="1200" dirty="0">
                <a:solidFill>
                  <a:schemeClr val="tx1"/>
                </a:solidFill>
                <a:effectLst/>
                <a:latin typeface="+mn-lt"/>
                <a:ea typeface="+mn-ea"/>
                <a:cs typeface="+mn-cs"/>
              </a:rPr>
            </a:br>
            <a:r>
              <a:rPr lang="en-PH" sz="1200" b="0" i="0" kern="1200" dirty="0">
                <a:solidFill>
                  <a:schemeClr val="tx1"/>
                </a:solidFill>
                <a:effectLst/>
                <a:latin typeface="+mn-lt"/>
                <a:ea typeface="+mn-ea"/>
                <a:cs typeface="+mn-cs"/>
              </a:rPr>
              <a:t>RESPONDENTS</a:t>
            </a:r>
            <a:br>
              <a:rPr lang="en-PH" sz="1200" b="0" i="0" kern="1200" dirty="0">
                <a:solidFill>
                  <a:schemeClr val="tx1"/>
                </a:solidFill>
                <a:effectLst/>
                <a:latin typeface="+mn-lt"/>
                <a:ea typeface="+mn-ea"/>
                <a:cs typeface="+mn-cs"/>
              </a:rPr>
            </a:br>
            <a:r>
              <a:rPr lang="en-PH" sz="1200" b="0" i="0" kern="1200" dirty="0">
                <a:solidFill>
                  <a:schemeClr val="tx1"/>
                </a:solidFill>
                <a:effectLst/>
                <a:latin typeface="+mn-lt"/>
                <a:ea typeface="+mn-ea"/>
                <a:cs typeface="+mn-cs"/>
              </a:rPr>
              <a:t>The respondents are Grade 12 students taking Practical Research 1 at LIFE Institute </a:t>
            </a:r>
            <a:r>
              <a:rPr lang="en-PH" sz="1200" b="0" i="0" kern="1200" dirty="0" err="1">
                <a:solidFill>
                  <a:schemeClr val="tx1"/>
                </a:solidFill>
                <a:effectLst/>
                <a:latin typeface="+mn-lt"/>
                <a:ea typeface="+mn-ea"/>
                <a:cs typeface="+mn-cs"/>
              </a:rPr>
              <a:t>Mariveles</a:t>
            </a:r>
            <a:r>
              <a:rPr lang="en-PH" sz="1200" b="0" i="0" kern="1200" dirty="0">
                <a:solidFill>
                  <a:schemeClr val="tx1"/>
                </a:solidFill>
                <a:effectLst/>
                <a:latin typeface="+mn-lt"/>
                <a:ea typeface="+mn-ea"/>
                <a:cs typeface="+mn-cs"/>
              </a:rPr>
              <a:t>.</a:t>
            </a:r>
          </a:p>
          <a:p>
            <a:endParaRPr lang="en-PH" sz="1200" b="0" i="0" kern="1200" dirty="0">
              <a:solidFill>
                <a:schemeClr val="tx1"/>
              </a:solidFill>
              <a:effectLst/>
              <a:latin typeface="+mn-lt"/>
              <a:ea typeface="+mn-ea"/>
              <a:cs typeface="+mn-cs"/>
            </a:endParaRPr>
          </a:p>
          <a:p>
            <a:r>
              <a:rPr lang="en-PH" sz="1200" b="0" i="0" kern="1200" dirty="0">
                <a:solidFill>
                  <a:schemeClr val="tx1"/>
                </a:solidFill>
                <a:effectLst/>
                <a:latin typeface="+mn-lt"/>
                <a:ea typeface="+mn-ea"/>
                <a:cs typeface="+mn-cs"/>
              </a:rPr>
              <a:t>WHY GRADE 12? </a:t>
            </a:r>
          </a:p>
          <a:p>
            <a:r>
              <a:rPr lang="en-PH" sz="1200" b="0" i="0" kern="1200" dirty="0">
                <a:solidFill>
                  <a:schemeClr val="tx1"/>
                </a:solidFill>
                <a:effectLst/>
                <a:latin typeface="+mn-lt"/>
                <a:ea typeface="+mn-ea"/>
                <a:cs typeface="+mn-cs"/>
              </a:rPr>
              <a:t>Grade 12 students are appropriate because they are directly involved in research activities and have experience communicating with research participants</a:t>
            </a:r>
            <a:endParaRPr lang="en-PH" dirty="0"/>
          </a:p>
        </p:txBody>
      </p:sp>
      <p:sp>
        <p:nvSpPr>
          <p:cNvPr id="4" name="Slide Number Placeholder 3"/>
          <p:cNvSpPr>
            <a:spLocks noGrp="1"/>
          </p:cNvSpPr>
          <p:nvPr>
            <p:ph type="sldNum" sz="quarter" idx="5"/>
          </p:nvPr>
        </p:nvSpPr>
        <p:spPr/>
        <p:txBody>
          <a:bodyPr/>
          <a:lstStyle/>
          <a:p>
            <a:fld id="{CC080DDE-1E17-42FD-AC87-BF33AE41CCE6}" type="slidenum">
              <a:rPr lang="en-PH" smtClean="0"/>
              <a:t>2</a:t>
            </a:fld>
            <a:endParaRPr lang="en-PH"/>
          </a:p>
        </p:txBody>
      </p:sp>
    </p:spTree>
    <p:extLst>
      <p:ext uri="{BB962C8B-B14F-4D97-AF65-F5344CB8AC3E}">
        <p14:creationId xmlns:p14="http://schemas.microsoft.com/office/powerpoint/2010/main" val="651606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b="0" i="0" kern="1200" dirty="0">
                <a:solidFill>
                  <a:schemeClr val="tx1"/>
                </a:solidFill>
                <a:effectLst/>
                <a:latin typeface="+mn-lt"/>
                <a:ea typeface="+mn-ea"/>
                <a:cs typeface="+mn-cs"/>
              </a:rPr>
              <a:t>Independent Variable: </a:t>
            </a:r>
          </a:p>
          <a:p>
            <a:pPr marL="171450" indent="-171450">
              <a:buFontTx/>
              <a:buChar char="-"/>
            </a:pPr>
            <a:r>
              <a:rPr lang="en-PH" sz="1200" b="0" i="0" kern="1200" dirty="0">
                <a:solidFill>
                  <a:schemeClr val="tx1"/>
                </a:solidFill>
                <a:effectLst/>
                <a:latin typeface="+mn-lt"/>
                <a:ea typeface="+mn-ea"/>
                <a:cs typeface="+mn-cs"/>
              </a:rPr>
              <a:t>Factors affecting communication</a:t>
            </a:r>
            <a:br>
              <a:rPr lang="en-PH" sz="1200" b="0" i="0" kern="1200" dirty="0">
                <a:solidFill>
                  <a:schemeClr val="tx1"/>
                </a:solidFill>
                <a:effectLst/>
                <a:latin typeface="+mn-lt"/>
                <a:ea typeface="+mn-ea"/>
                <a:cs typeface="+mn-cs"/>
              </a:rPr>
            </a:br>
            <a:br>
              <a:rPr lang="en-PH" sz="1200" b="0" i="0" kern="1200" dirty="0">
                <a:solidFill>
                  <a:schemeClr val="tx1"/>
                </a:solidFill>
                <a:effectLst/>
                <a:latin typeface="+mn-lt"/>
                <a:ea typeface="+mn-ea"/>
                <a:cs typeface="+mn-cs"/>
              </a:rPr>
            </a:br>
            <a:r>
              <a:rPr lang="en-PH" sz="1200" b="0" i="0" kern="1200" dirty="0">
                <a:solidFill>
                  <a:schemeClr val="tx1"/>
                </a:solidFill>
                <a:effectLst/>
                <a:latin typeface="+mn-lt"/>
                <a:ea typeface="+mn-ea"/>
                <a:cs typeface="+mn-cs"/>
              </a:rPr>
              <a:t>Possible factors: </a:t>
            </a:r>
          </a:p>
          <a:p>
            <a:pPr marL="171450" indent="-171450">
              <a:buFontTx/>
              <a:buChar char="-"/>
            </a:pPr>
            <a:r>
              <a:rPr lang="en-PH" sz="1200" b="0" i="0" kern="1200" dirty="0">
                <a:solidFill>
                  <a:schemeClr val="tx1"/>
                </a:solidFill>
                <a:effectLst/>
                <a:latin typeface="+mn-lt"/>
                <a:ea typeface="+mn-ea"/>
                <a:cs typeface="+mn-cs"/>
              </a:rPr>
              <a:t>- Confidence </a:t>
            </a:r>
          </a:p>
          <a:p>
            <a:pPr marL="171450" indent="-171450">
              <a:buFontTx/>
              <a:buChar char="-"/>
            </a:pPr>
            <a:r>
              <a:rPr lang="en-PH" sz="1200" b="0" i="0" kern="1200" dirty="0">
                <a:solidFill>
                  <a:schemeClr val="tx1"/>
                </a:solidFill>
                <a:effectLst/>
                <a:latin typeface="+mn-lt"/>
                <a:ea typeface="+mn-ea"/>
                <a:cs typeface="+mn-cs"/>
              </a:rPr>
              <a:t>- Communication skills </a:t>
            </a:r>
          </a:p>
          <a:p>
            <a:pPr marL="171450" indent="-171450">
              <a:buFontTx/>
              <a:buChar char="-"/>
            </a:pPr>
            <a:r>
              <a:rPr lang="en-PH" sz="1200" b="0" i="0" kern="1200" dirty="0">
                <a:solidFill>
                  <a:schemeClr val="tx1"/>
                </a:solidFill>
                <a:effectLst/>
                <a:latin typeface="+mn-lt"/>
                <a:ea typeface="+mn-ea"/>
                <a:cs typeface="+mn-cs"/>
              </a:rPr>
              <a:t>- Participant cooperation </a:t>
            </a:r>
          </a:p>
          <a:p>
            <a:pPr marL="171450" indent="-171450">
              <a:buFontTx/>
              <a:buChar char="-"/>
            </a:pPr>
            <a:r>
              <a:rPr lang="en-PH" sz="1200" b="0" i="0" kern="1200" dirty="0">
                <a:solidFill>
                  <a:schemeClr val="tx1"/>
                </a:solidFill>
                <a:effectLst/>
                <a:latin typeface="+mn-lt"/>
                <a:ea typeface="+mn-ea"/>
                <a:cs typeface="+mn-cs"/>
              </a:rPr>
              <a:t>- Availability of participants</a:t>
            </a:r>
          </a:p>
          <a:p>
            <a:pPr marL="171450" indent="-171450">
              <a:buFontTx/>
              <a:buChar char="-"/>
            </a:pPr>
            <a:r>
              <a:rPr lang="en-PH" sz="1200" b="0" i="0" kern="1200" dirty="0">
                <a:solidFill>
                  <a:schemeClr val="tx1"/>
                </a:solidFill>
                <a:effectLst/>
                <a:latin typeface="+mn-lt"/>
                <a:ea typeface="+mn-ea"/>
                <a:cs typeface="+mn-cs"/>
              </a:rPr>
              <a:t>- Clarity of questions/instructions </a:t>
            </a:r>
          </a:p>
          <a:p>
            <a:pPr marL="171450" indent="-171450">
              <a:buFontTx/>
              <a:buChar char="-"/>
            </a:pPr>
            <a:r>
              <a:rPr lang="en-PH" sz="1200" b="0" i="0" kern="1200" dirty="0">
                <a:solidFill>
                  <a:schemeClr val="tx1"/>
                </a:solidFill>
                <a:effectLst/>
                <a:latin typeface="+mn-lt"/>
                <a:ea typeface="+mn-ea"/>
                <a:cs typeface="+mn-cs"/>
              </a:rPr>
              <a:t>- Difficulty approaching participants </a:t>
            </a:r>
            <a:br>
              <a:rPr lang="en-PH" sz="1200" b="0" i="0" kern="1200" dirty="0">
                <a:solidFill>
                  <a:schemeClr val="tx1"/>
                </a:solidFill>
                <a:effectLst/>
                <a:latin typeface="+mn-lt"/>
                <a:ea typeface="+mn-ea"/>
                <a:cs typeface="+mn-cs"/>
              </a:rPr>
            </a:br>
            <a:br>
              <a:rPr lang="en-PH" sz="1200" b="0" i="0" kern="1200" dirty="0">
                <a:solidFill>
                  <a:schemeClr val="tx1"/>
                </a:solidFill>
                <a:effectLst/>
                <a:latin typeface="+mn-lt"/>
                <a:ea typeface="+mn-ea"/>
                <a:cs typeface="+mn-cs"/>
              </a:rPr>
            </a:br>
            <a:r>
              <a:rPr lang="en-PH" sz="1200" b="0" i="0" kern="1200" dirty="0">
                <a:solidFill>
                  <a:schemeClr val="tx1"/>
                </a:solidFill>
                <a:effectLst/>
                <a:latin typeface="+mn-lt"/>
                <a:ea typeface="+mn-ea"/>
                <a:cs typeface="+mn-cs"/>
              </a:rPr>
              <a:t>Dependent Variable: </a:t>
            </a:r>
          </a:p>
          <a:p>
            <a:pPr marL="171450" indent="-171450">
              <a:buFontTx/>
              <a:buChar char="-"/>
            </a:pPr>
            <a:r>
              <a:rPr lang="en-PH" sz="1200" b="0" i="0" kern="1200" dirty="0">
                <a:solidFill>
                  <a:schemeClr val="tx1"/>
                </a:solidFill>
                <a:effectLst/>
                <a:latin typeface="+mn-lt"/>
                <a:ea typeface="+mn-ea"/>
                <a:cs typeface="+mn-cs"/>
              </a:rPr>
              <a:t>- Communication with research participants</a:t>
            </a:r>
          </a:p>
          <a:p>
            <a:pPr marL="171450" indent="-171450">
              <a:buFontTx/>
              <a:buChar char="-"/>
            </a:pPr>
            <a:endParaRPr lang="en-PH" sz="1200" b="0" i="0" kern="1200" dirty="0">
              <a:solidFill>
                <a:schemeClr val="tx1"/>
              </a:solidFill>
              <a:effectLst/>
              <a:latin typeface="+mn-lt"/>
              <a:ea typeface="+mn-ea"/>
              <a:cs typeface="+mn-cs"/>
            </a:endParaRPr>
          </a:p>
          <a:p>
            <a:pPr marL="171450" indent="-171450">
              <a:buFontTx/>
              <a:buChar char="-"/>
            </a:pPr>
            <a:r>
              <a:rPr lang="en-PH" sz="1200" b="0" i="0" kern="1200" dirty="0">
                <a:solidFill>
                  <a:schemeClr val="tx1"/>
                </a:solidFill>
                <a:effectLst/>
                <a:latin typeface="+mn-lt"/>
                <a:ea typeface="+mn-ea"/>
                <a:cs typeface="+mn-cs"/>
              </a:rPr>
              <a:t>RESEARCH DESIGN </a:t>
            </a:r>
            <a:br>
              <a:rPr lang="en-PH" sz="1200" b="0" i="0" kern="1200" dirty="0">
                <a:solidFill>
                  <a:schemeClr val="tx1"/>
                </a:solidFill>
                <a:effectLst/>
                <a:latin typeface="+mn-lt"/>
                <a:ea typeface="+mn-ea"/>
                <a:cs typeface="+mn-cs"/>
              </a:rPr>
            </a:br>
            <a:r>
              <a:rPr lang="en-PH" sz="1200" b="0" i="0" kern="1200" dirty="0">
                <a:solidFill>
                  <a:schemeClr val="tx1"/>
                </a:solidFill>
                <a:effectLst/>
                <a:latin typeface="+mn-lt"/>
                <a:ea typeface="+mn-ea"/>
                <a:cs typeface="+mn-cs"/>
              </a:rPr>
              <a:t>Quantitative research because the study will collect numerical data through a structured questionnaire and summarize the responses statistically. </a:t>
            </a:r>
            <a:br>
              <a:rPr lang="en-PH" sz="1200" b="0" i="0" kern="1200" dirty="0">
                <a:solidFill>
                  <a:schemeClr val="tx1"/>
                </a:solidFill>
                <a:effectLst/>
                <a:latin typeface="+mn-lt"/>
                <a:ea typeface="+mn-ea"/>
                <a:cs typeface="+mn-cs"/>
              </a:rPr>
            </a:br>
            <a:br>
              <a:rPr lang="en-PH" sz="1200" b="0" i="0" kern="1200" dirty="0">
                <a:solidFill>
                  <a:schemeClr val="tx1"/>
                </a:solidFill>
                <a:effectLst/>
                <a:latin typeface="+mn-lt"/>
                <a:ea typeface="+mn-ea"/>
                <a:cs typeface="+mn-cs"/>
              </a:rPr>
            </a:br>
            <a:br>
              <a:rPr lang="en-PH" dirty="0"/>
            </a:br>
            <a:br>
              <a:rPr lang="en-PH" dirty="0"/>
            </a:br>
            <a:br>
              <a:rPr lang="en-PH" dirty="0"/>
            </a:br>
            <a:endParaRPr lang="en-PH" dirty="0"/>
          </a:p>
        </p:txBody>
      </p:sp>
      <p:sp>
        <p:nvSpPr>
          <p:cNvPr id="4" name="Slide Number Placeholder 3"/>
          <p:cNvSpPr>
            <a:spLocks noGrp="1"/>
          </p:cNvSpPr>
          <p:nvPr>
            <p:ph type="sldNum" sz="quarter" idx="5"/>
          </p:nvPr>
        </p:nvSpPr>
        <p:spPr/>
        <p:txBody>
          <a:bodyPr/>
          <a:lstStyle/>
          <a:p>
            <a:fld id="{CC080DDE-1E17-42FD-AC87-BF33AE41CCE6}" type="slidenum">
              <a:rPr lang="en-PH" smtClean="0"/>
              <a:t>3</a:t>
            </a:fld>
            <a:endParaRPr lang="en-PH"/>
          </a:p>
        </p:txBody>
      </p:sp>
    </p:spTree>
    <p:extLst>
      <p:ext uri="{BB962C8B-B14F-4D97-AF65-F5344CB8AC3E}">
        <p14:creationId xmlns:p14="http://schemas.microsoft.com/office/powerpoint/2010/main" val="2528264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CC080DDE-1E17-42FD-AC87-BF33AE41CCE6}" type="slidenum">
              <a:rPr lang="en-PH" smtClean="0"/>
              <a:t>4</a:t>
            </a:fld>
            <a:endParaRPr lang="en-PH"/>
          </a:p>
        </p:txBody>
      </p:sp>
    </p:spTree>
    <p:extLst>
      <p:ext uri="{BB962C8B-B14F-4D97-AF65-F5344CB8AC3E}">
        <p14:creationId xmlns:p14="http://schemas.microsoft.com/office/powerpoint/2010/main" val="33889931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CC080DDE-1E17-42FD-AC87-BF33AE41CCE6}" type="slidenum">
              <a:rPr lang="en-PH" smtClean="0"/>
              <a:t>5</a:t>
            </a:fld>
            <a:endParaRPr lang="en-PH"/>
          </a:p>
        </p:txBody>
      </p:sp>
    </p:spTree>
    <p:extLst>
      <p:ext uri="{BB962C8B-B14F-4D97-AF65-F5344CB8AC3E}">
        <p14:creationId xmlns:p14="http://schemas.microsoft.com/office/powerpoint/2010/main" val="2442990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CC080DDE-1E17-42FD-AC87-BF33AE41CCE6}" type="slidenum">
              <a:rPr lang="en-PH" smtClean="0"/>
              <a:t>6</a:t>
            </a:fld>
            <a:endParaRPr lang="en-PH"/>
          </a:p>
        </p:txBody>
      </p:sp>
    </p:spTree>
    <p:extLst>
      <p:ext uri="{BB962C8B-B14F-4D97-AF65-F5344CB8AC3E}">
        <p14:creationId xmlns:p14="http://schemas.microsoft.com/office/powerpoint/2010/main" val="1292608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b="0" i="0" kern="1200" dirty="0">
                <a:solidFill>
                  <a:schemeClr val="tx1"/>
                </a:solidFill>
                <a:effectLst/>
                <a:latin typeface="+mn-lt"/>
                <a:ea typeface="+mn-ea"/>
                <a:cs typeface="+mn-cs"/>
              </a:rPr>
              <a:t>DATA COLLECTION </a:t>
            </a:r>
            <a:br>
              <a:rPr lang="en-PH" sz="1200" b="0" i="0" kern="1200" dirty="0">
                <a:solidFill>
                  <a:schemeClr val="tx1"/>
                </a:solidFill>
                <a:effectLst/>
                <a:latin typeface="+mn-lt"/>
                <a:ea typeface="+mn-ea"/>
                <a:cs typeface="+mn-cs"/>
              </a:rPr>
            </a:br>
            <a:r>
              <a:rPr lang="en-PH" sz="1200" b="0" i="0" kern="1200" dirty="0">
                <a:solidFill>
                  <a:schemeClr val="tx1"/>
                </a:solidFill>
                <a:effectLst/>
                <a:latin typeface="+mn-lt"/>
                <a:ea typeface="+mn-ea"/>
                <a:cs typeface="+mn-cs"/>
              </a:rPr>
              <a:t>A close-ended questionnaire can be used to measure the factors experienced by the respondents.</a:t>
            </a:r>
            <a:br>
              <a:rPr lang="en-PH" sz="1200" b="0" i="0" kern="1200" dirty="0">
                <a:solidFill>
                  <a:schemeClr val="tx1"/>
                </a:solidFill>
                <a:effectLst/>
                <a:latin typeface="+mn-lt"/>
                <a:ea typeface="+mn-ea"/>
                <a:cs typeface="+mn-cs"/>
              </a:rPr>
            </a:br>
            <a:br>
              <a:rPr lang="en-PH" sz="1200" b="0" i="0" kern="1200" dirty="0">
                <a:solidFill>
                  <a:schemeClr val="tx1"/>
                </a:solidFill>
                <a:effectLst/>
                <a:latin typeface="+mn-lt"/>
                <a:ea typeface="+mn-ea"/>
                <a:cs typeface="+mn-cs"/>
              </a:rPr>
            </a:br>
            <a:r>
              <a:rPr lang="en-PH" sz="1200" b="0" i="0" kern="1200" dirty="0">
                <a:solidFill>
                  <a:schemeClr val="tx1"/>
                </a:solidFill>
                <a:effectLst/>
                <a:latin typeface="+mn-lt"/>
                <a:ea typeface="+mn-ea"/>
                <a:cs typeface="+mn-cs"/>
              </a:rPr>
              <a:t>PURPOSE </a:t>
            </a:r>
            <a:br>
              <a:rPr lang="en-PH" sz="1200" b="0" i="0" kern="1200" dirty="0">
                <a:solidFill>
                  <a:schemeClr val="tx1"/>
                </a:solidFill>
                <a:effectLst/>
                <a:latin typeface="+mn-lt"/>
                <a:ea typeface="+mn-ea"/>
                <a:cs typeface="+mn-cs"/>
              </a:rPr>
            </a:br>
            <a:r>
              <a:rPr lang="en-PH" sz="1200" b="0" i="0" kern="1200" dirty="0">
                <a:solidFill>
                  <a:schemeClr val="tx1"/>
                </a:solidFill>
                <a:effectLst/>
                <a:latin typeface="+mn-lt"/>
                <a:ea typeface="+mn-ea"/>
                <a:cs typeface="+mn-cs"/>
              </a:rPr>
              <a:t>The purpose is to identify which factors affect students' communication with research participants and understand the common communication difficulties they experience.</a:t>
            </a:r>
            <a:br>
              <a:rPr lang="en-PH" sz="1200" b="0" i="0" kern="1200" dirty="0">
                <a:solidFill>
                  <a:schemeClr val="tx1"/>
                </a:solidFill>
                <a:effectLst/>
                <a:latin typeface="+mn-lt"/>
                <a:ea typeface="+mn-ea"/>
                <a:cs typeface="+mn-cs"/>
              </a:rPr>
            </a:br>
            <a:br>
              <a:rPr lang="en-PH" sz="1200" b="0" i="0" kern="1200" dirty="0">
                <a:solidFill>
                  <a:schemeClr val="tx1"/>
                </a:solidFill>
                <a:effectLst/>
                <a:latin typeface="+mn-lt"/>
                <a:ea typeface="+mn-ea"/>
                <a:cs typeface="+mn-cs"/>
              </a:rPr>
            </a:br>
            <a:r>
              <a:rPr lang="en-PH" sz="1200" b="0" i="0" kern="1200" dirty="0">
                <a:solidFill>
                  <a:schemeClr val="tx1"/>
                </a:solidFill>
                <a:effectLst/>
                <a:latin typeface="+mn-lt"/>
                <a:ea typeface="+mn-ea"/>
                <a:cs typeface="+mn-cs"/>
              </a:rPr>
              <a:t>IMPORTANCE </a:t>
            </a:r>
            <a:br>
              <a:rPr lang="en-PH" sz="1200" b="0" i="0" kern="1200" dirty="0">
                <a:solidFill>
                  <a:schemeClr val="tx1"/>
                </a:solidFill>
                <a:effectLst/>
                <a:latin typeface="+mn-lt"/>
                <a:ea typeface="+mn-ea"/>
                <a:cs typeface="+mn-cs"/>
              </a:rPr>
            </a:br>
            <a:r>
              <a:rPr lang="en-PH" sz="1200" b="0" i="0" kern="1200" dirty="0">
                <a:solidFill>
                  <a:schemeClr val="tx1"/>
                </a:solidFill>
                <a:effectLst/>
                <a:latin typeface="+mn-lt"/>
                <a:ea typeface="+mn-ea"/>
                <a:cs typeface="+mn-cs"/>
              </a:rPr>
              <a:t>The findings may help students and teachers identify communication difficulties during research and develop strategies to improve communication with research participants. </a:t>
            </a:r>
            <a:br>
              <a:rPr lang="en-PH" dirty="0"/>
            </a:br>
            <a:endParaRPr lang="en-PH" dirty="0"/>
          </a:p>
        </p:txBody>
      </p:sp>
      <p:sp>
        <p:nvSpPr>
          <p:cNvPr id="4" name="Slide Number Placeholder 3"/>
          <p:cNvSpPr>
            <a:spLocks noGrp="1"/>
          </p:cNvSpPr>
          <p:nvPr>
            <p:ph type="sldNum" sz="quarter" idx="5"/>
          </p:nvPr>
        </p:nvSpPr>
        <p:spPr/>
        <p:txBody>
          <a:bodyPr/>
          <a:lstStyle/>
          <a:p>
            <a:fld id="{CC080DDE-1E17-42FD-AC87-BF33AE41CCE6}" type="slidenum">
              <a:rPr lang="en-PH" smtClean="0"/>
              <a:t>7</a:t>
            </a:fld>
            <a:endParaRPr lang="en-PH"/>
          </a:p>
        </p:txBody>
      </p:sp>
    </p:spTree>
    <p:extLst>
      <p:ext uri="{BB962C8B-B14F-4D97-AF65-F5344CB8AC3E}">
        <p14:creationId xmlns:p14="http://schemas.microsoft.com/office/powerpoint/2010/main" val="2984928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CC080DDE-1E17-42FD-AC87-BF33AE41CCE6}" type="slidenum">
              <a:rPr lang="en-PH" smtClean="0"/>
              <a:t>8</a:t>
            </a:fld>
            <a:endParaRPr lang="en-PH"/>
          </a:p>
        </p:txBody>
      </p:sp>
    </p:spTree>
    <p:extLst>
      <p:ext uri="{BB962C8B-B14F-4D97-AF65-F5344CB8AC3E}">
        <p14:creationId xmlns:p14="http://schemas.microsoft.com/office/powerpoint/2010/main" val="1267485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CC080DDE-1E17-42FD-AC87-BF33AE41CCE6}" type="slidenum">
              <a:rPr lang="en-PH" smtClean="0"/>
              <a:t>14</a:t>
            </a:fld>
            <a:endParaRPr lang="en-PH"/>
          </a:p>
        </p:txBody>
      </p:sp>
    </p:spTree>
    <p:extLst>
      <p:ext uri="{BB962C8B-B14F-4D97-AF65-F5344CB8AC3E}">
        <p14:creationId xmlns:p14="http://schemas.microsoft.com/office/powerpoint/2010/main" val="2454046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70829-ED35-B31D-2A2A-75415F68BE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7D352A-16C8-9543-6B18-DD83AE2B5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3E4B3E-FE05-1929-9CC6-E670BBF94BCD}"/>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AE770D63-4E9B-CBBD-AB27-B40517B76536}"/>
              </a:ext>
            </a:extLst>
          </p:cNvPr>
          <p:cNvSpPr>
            <a:spLocks noGrp="1"/>
          </p:cNvSpPr>
          <p:nvPr>
            <p:ph type="sldNum" sz="quarter" idx="5"/>
          </p:nvPr>
        </p:nvSpPr>
        <p:spPr/>
        <p:txBody>
          <a:bodyPr/>
          <a:lstStyle/>
          <a:p>
            <a:fld id="{CC080DDE-1E17-42FD-AC87-BF33AE41CCE6}" type="slidenum">
              <a:rPr lang="en-PH" smtClean="0"/>
              <a:t>16</a:t>
            </a:fld>
            <a:endParaRPr lang="en-PH"/>
          </a:p>
        </p:txBody>
      </p:sp>
    </p:spTree>
    <p:extLst>
      <p:ext uri="{BB962C8B-B14F-4D97-AF65-F5344CB8AC3E}">
        <p14:creationId xmlns:p14="http://schemas.microsoft.com/office/powerpoint/2010/main" val="3383309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64FE8-0525-D237-8179-8AC4C7A1F6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C5B3E-C2CD-0EA9-81FB-69166609D1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E340AC-C552-0B8D-2C0E-B00F2D84A0D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0CCBA9BB-B673-35FC-3A13-38B0816CB967}"/>
              </a:ext>
            </a:extLst>
          </p:cNvPr>
          <p:cNvSpPr>
            <a:spLocks noGrp="1"/>
          </p:cNvSpPr>
          <p:nvPr>
            <p:ph type="sldNum" sz="quarter" idx="5"/>
          </p:nvPr>
        </p:nvSpPr>
        <p:spPr/>
        <p:txBody>
          <a:bodyPr/>
          <a:lstStyle/>
          <a:p>
            <a:fld id="{CC080DDE-1E17-42FD-AC87-BF33AE41CCE6}" type="slidenum">
              <a:rPr lang="en-PH" smtClean="0"/>
              <a:t>17</a:t>
            </a:fld>
            <a:endParaRPr lang="en-PH"/>
          </a:p>
        </p:txBody>
      </p:sp>
    </p:spTree>
    <p:extLst>
      <p:ext uri="{BB962C8B-B14F-4D97-AF65-F5344CB8AC3E}">
        <p14:creationId xmlns:p14="http://schemas.microsoft.com/office/powerpoint/2010/main" val="37994189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4A1D7-A4CE-72B4-3D25-A2CB79DBA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E656F3-0443-00D1-DCC8-3A5E774B11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D8EF9-54D6-B469-B779-9B5C295AEB1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ED52F53-414D-A228-BF2D-009EDC7AB20E}"/>
              </a:ext>
            </a:extLst>
          </p:cNvPr>
          <p:cNvSpPr>
            <a:spLocks noGrp="1"/>
          </p:cNvSpPr>
          <p:nvPr>
            <p:ph type="sldNum" sz="quarter" idx="5"/>
          </p:nvPr>
        </p:nvSpPr>
        <p:spPr/>
        <p:txBody>
          <a:bodyPr/>
          <a:lstStyle/>
          <a:p>
            <a:fld id="{CC080DDE-1E17-42FD-AC87-BF33AE41CCE6}" type="slidenum">
              <a:rPr lang="en-PH" smtClean="0"/>
              <a:t>18</a:t>
            </a:fld>
            <a:endParaRPr lang="en-PH"/>
          </a:p>
        </p:txBody>
      </p:sp>
    </p:spTree>
    <p:extLst>
      <p:ext uri="{BB962C8B-B14F-4D97-AF65-F5344CB8AC3E}">
        <p14:creationId xmlns:p14="http://schemas.microsoft.com/office/powerpoint/2010/main" val="98495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hyperlink" Target="https://doi.org/10.1007/s11135-021-01217-4" TargetMode="External"/><Relationship Id="rId5" Type="http://schemas.openxmlformats.org/officeDocument/2006/relationships/hyperlink" Target="https://doi.org/10.1002/eahr.500094" TargetMode="External"/><Relationship Id="rId4" Type="http://schemas.openxmlformats.org/officeDocument/2006/relationships/hyperlink" Target="https://doi.org/10.1177/1556264622114604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BD036-5535-86F3-58BD-6FEEAFB42244}"/>
            </a:ext>
          </a:extLst>
        </p:cNvPr>
        <p:cNvGrpSpPr/>
        <p:nvPr/>
      </p:nvGrpSpPr>
      <p:grpSpPr>
        <a:xfrm>
          <a:off x="0" y="0"/>
          <a:ext cx="0" cy="0"/>
          <a:chOff x="0" y="0"/>
          <a:chExt cx="0" cy="0"/>
        </a:xfrm>
      </p:grpSpPr>
      <p:sp>
        <p:nvSpPr>
          <p:cNvPr id="15" name="TextBox 5">
            <a:extLst>
              <a:ext uri="{FF2B5EF4-FFF2-40B4-BE49-F238E27FC236}">
                <a16:creationId xmlns:a16="http://schemas.microsoft.com/office/drawing/2014/main" id="{6DAE008B-5523-FF12-6AE9-F5BB3F6607AE}"/>
              </a:ext>
            </a:extLst>
          </p:cNvPr>
          <p:cNvSpPr txBox="1"/>
          <p:nvPr/>
        </p:nvSpPr>
        <p:spPr>
          <a:xfrm>
            <a:off x="304800" y="2186847"/>
            <a:ext cx="18211800" cy="144655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400" dirty="0">
                <a:latin typeface="Times New Roman" panose="02020603050405020304" pitchFamily="18" charset="0"/>
                <a:cs typeface="Times New Roman" panose="02020603050405020304" pitchFamily="18" charset="0"/>
              </a:rPr>
              <a:t>LMI INTEGRATED FORMATION AND EDUCATION, INC.</a:t>
            </a:r>
          </a:p>
          <a:p>
            <a:pPr algn="ctr"/>
            <a:r>
              <a:rPr lang="en-US" sz="4400" dirty="0" err="1">
                <a:latin typeface="Times New Roman" panose="02020603050405020304" pitchFamily="18" charset="0"/>
                <a:cs typeface="Times New Roman" panose="02020603050405020304" pitchFamily="18" charset="0"/>
              </a:rPr>
              <a:t>Lakandula</a:t>
            </a:r>
            <a:r>
              <a:rPr lang="en-US" sz="4400" dirty="0">
                <a:latin typeface="Times New Roman" panose="02020603050405020304" pitchFamily="18" charset="0"/>
                <a:cs typeface="Times New Roman" panose="02020603050405020304" pitchFamily="18" charset="0"/>
              </a:rPr>
              <a:t> St., </a:t>
            </a:r>
            <a:r>
              <a:rPr lang="en-US" sz="4400" dirty="0" err="1">
                <a:latin typeface="Times New Roman" panose="02020603050405020304" pitchFamily="18" charset="0"/>
                <a:cs typeface="Times New Roman" panose="02020603050405020304" pitchFamily="18" charset="0"/>
              </a:rPr>
              <a:t>Poblacion</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Mariveles</a:t>
            </a:r>
            <a:r>
              <a:rPr lang="en-US" sz="4400" dirty="0">
                <a:latin typeface="Times New Roman" panose="02020603050405020304" pitchFamily="18" charset="0"/>
                <a:cs typeface="Times New Roman" panose="02020603050405020304" pitchFamily="18" charset="0"/>
              </a:rPr>
              <a:t>, Bataan</a:t>
            </a:r>
          </a:p>
        </p:txBody>
      </p:sp>
      <p:sp>
        <p:nvSpPr>
          <p:cNvPr id="16" name="TextBox 6">
            <a:extLst>
              <a:ext uri="{FF2B5EF4-FFF2-40B4-BE49-F238E27FC236}">
                <a16:creationId xmlns:a16="http://schemas.microsoft.com/office/drawing/2014/main" id="{96846C5C-6FEE-81FA-36B7-E0550FD06D3A}"/>
              </a:ext>
            </a:extLst>
          </p:cNvPr>
          <p:cNvSpPr txBox="1"/>
          <p:nvPr/>
        </p:nvSpPr>
        <p:spPr>
          <a:xfrm>
            <a:off x="3522907" y="3585744"/>
            <a:ext cx="10607040" cy="10772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dirty="0">
                <a:latin typeface="Times New Roman" panose="02020603050405020304" pitchFamily="18" charset="0"/>
                <a:cs typeface="Times New Roman" panose="02020603050405020304" pitchFamily="18" charset="0"/>
              </a:rPr>
              <a:t>PRACTICAL RESEARCH 2</a:t>
            </a:r>
          </a:p>
          <a:p>
            <a:pPr algn="ctr"/>
            <a:r>
              <a:rPr lang="en-US" sz="3200" dirty="0">
                <a:latin typeface="Times New Roman" panose="02020603050405020304" pitchFamily="18" charset="0"/>
                <a:cs typeface="Times New Roman" panose="02020603050405020304" pitchFamily="18" charset="0"/>
              </a:rPr>
              <a:t>QUANTITATIVE APPROACH</a:t>
            </a:r>
          </a:p>
        </p:txBody>
      </p:sp>
      <p:sp>
        <p:nvSpPr>
          <p:cNvPr id="17" name="TextBox 7">
            <a:extLst>
              <a:ext uri="{FF2B5EF4-FFF2-40B4-BE49-F238E27FC236}">
                <a16:creationId xmlns:a16="http://schemas.microsoft.com/office/drawing/2014/main" id="{3F4CAC3D-C647-07BB-4864-434C43AA47A7}"/>
              </a:ext>
            </a:extLst>
          </p:cNvPr>
          <p:cNvSpPr txBox="1"/>
          <p:nvPr/>
        </p:nvSpPr>
        <p:spPr>
          <a:xfrm>
            <a:off x="4309563" y="4930901"/>
            <a:ext cx="9605814" cy="132343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0" dirty="0">
                <a:latin typeface="Times New Roman" panose="02020603050405020304" pitchFamily="18" charset="0"/>
                <a:cs typeface="Times New Roman" panose="02020603050405020304" pitchFamily="18" charset="0"/>
              </a:rPr>
              <a:t>TITLE PROPOSAL</a:t>
            </a:r>
          </a:p>
        </p:txBody>
      </p:sp>
      <p:sp>
        <p:nvSpPr>
          <p:cNvPr id="18" name="TextBox 8">
            <a:extLst>
              <a:ext uri="{FF2B5EF4-FFF2-40B4-BE49-F238E27FC236}">
                <a16:creationId xmlns:a16="http://schemas.microsoft.com/office/drawing/2014/main" id="{638AD71B-555D-91AA-A2EF-6E8FC5CC236E}"/>
              </a:ext>
            </a:extLst>
          </p:cNvPr>
          <p:cNvSpPr txBox="1"/>
          <p:nvPr/>
        </p:nvSpPr>
        <p:spPr>
          <a:xfrm>
            <a:off x="2286000" y="6331001"/>
            <a:ext cx="13080854" cy="286232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6000" b="1" dirty="0">
                <a:latin typeface="Times New Roman" panose="02020603050405020304" pitchFamily="18" charset="0"/>
                <a:cs typeface="Times New Roman" panose="02020603050405020304" pitchFamily="18" charset="0"/>
              </a:rPr>
              <a:t>YEONG, SEAN MATHEW D.</a:t>
            </a:r>
          </a:p>
          <a:p>
            <a:pPr algn="ctr"/>
            <a:r>
              <a:rPr lang="en-US" sz="6000" b="1" dirty="0">
                <a:latin typeface="Times New Roman" panose="02020603050405020304" pitchFamily="18" charset="0"/>
                <a:cs typeface="Times New Roman" panose="02020603050405020304" pitchFamily="18" charset="0"/>
              </a:rPr>
              <a:t>MENDOZA, CLARENZ GLEN M.</a:t>
            </a:r>
          </a:p>
          <a:p>
            <a:pPr algn="ctr"/>
            <a:r>
              <a:rPr lang="en-US" sz="6000" b="1" dirty="0">
                <a:latin typeface="Times New Roman" panose="02020603050405020304" pitchFamily="18" charset="0"/>
                <a:cs typeface="Times New Roman" panose="02020603050405020304" pitchFamily="18" charset="0"/>
              </a:rPr>
              <a:t>GLIANE, MICO JAMES D.</a:t>
            </a:r>
          </a:p>
        </p:txBody>
      </p:sp>
      <p:sp>
        <p:nvSpPr>
          <p:cNvPr id="19" name="TextBox 9">
            <a:extLst>
              <a:ext uri="{FF2B5EF4-FFF2-40B4-BE49-F238E27FC236}">
                <a16:creationId xmlns:a16="http://schemas.microsoft.com/office/drawing/2014/main" id="{FCE39B8B-DAAD-3387-9A7F-F2D4A2A03C06}"/>
              </a:ext>
            </a:extLst>
          </p:cNvPr>
          <p:cNvSpPr txBox="1"/>
          <p:nvPr/>
        </p:nvSpPr>
        <p:spPr>
          <a:xfrm>
            <a:off x="4371373" y="8955327"/>
            <a:ext cx="9545253"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600" dirty="0">
                <a:latin typeface="Times New Roman" panose="02020603050405020304" pitchFamily="18" charset="0"/>
                <a:cs typeface="Times New Roman" panose="02020603050405020304" pitchFamily="18" charset="0"/>
              </a:rPr>
              <a:t>Student Researchers, 12 ICT-SAGITTARIUS</a:t>
            </a:r>
          </a:p>
        </p:txBody>
      </p:sp>
      <p:pic>
        <p:nvPicPr>
          <p:cNvPr id="5" name="Picture 27">
            <a:extLst>
              <a:ext uri="{FF2B5EF4-FFF2-40B4-BE49-F238E27FC236}">
                <a16:creationId xmlns:a16="http://schemas.microsoft.com/office/drawing/2014/main" id="{912B8DCF-B511-8B14-0031-7175DD383C5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V="1">
            <a:off x="0" y="-38100"/>
            <a:ext cx="18288000" cy="2744054"/>
          </a:xfrm>
          <a:prstGeom prst="rect">
            <a:avLst/>
          </a:prstGeom>
        </p:spPr>
      </p:pic>
      <p:pic>
        <p:nvPicPr>
          <p:cNvPr id="7" name="Picture 29">
            <a:extLst>
              <a:ext uri="{FF2B5EF4-FFF2-40B4-BE49-F238E27FC236}">
                <a16:creationId xmlns:a16="http://schemas.microsoft.com/office/drawing/2014/main" id="{6F4FD473-C0B7-B30C-B7C0-D27F60DC1201}"/>
              </a:ext>
            </a:extLst>
          </p:cNvPr>
          <p:cNvPicPr>
            <a:picLocks noChangeAspect="1"/>
          </p:cNvPicPr>
          <p:nvPr/>
        </p:nvPicPr>
        <p:blipFill>
          <a:blip>
            <a:alphaModFix amt="49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251978" flipH="1">
            <a:off x="1988928" y="-736438"/>
            <a:ext cx="16339589" cy="2891212"/>
          </a:xfrm>
          <a:prstGeom prst="rect">
            <a:avLst/>
          </a:prstGeom>
        </p:spPr>
      </p:pic>
    </p:spTree>
    <p:extLst>
      <p:ext uri="{BB962C8B-B14F-4D97-AF65-F5344CB8AC3E}">
        <p14:creationId xmlns:p14="http://schemas.microsoft.com/office/powerpoint/2010/main" val="370634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EBD58-946B-8645-6C91-8AA71ADFC592}"/>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BD54799A-CBF5-8536-8E3D-EFEA1812E8D8}"/>
              </a:ext>
            </a:extLst>
          </p:cNvPr>
          <p:cNvSpPr/>
          <p:nvPr/>
        </p:nvSpPr>
        <p:spPr>
          <a:xfrm>
            <a:off x="11311046" y="789098"/>
            <a:ext cx="423497" cy="479205"/>
          </a:xfrm>
          <a:custGeom>
            <a:avLst/>
            <a:gdLst/>
            <a:ahLst/>
            <a:cxnLst/>
            <a:rect l="l" t="t" r="r" b="b"/>
            <a:pathLst>
              <a:path w="423497" h="479205">
                <a:moveTo>
                  <a:pt x="0" y="0"/>
                </a:moveTo>
                <a:lnTo>
                  <a:pt x="423497" y="0"/>
                </a:lnTo>
                <a:lnTo>
                  <a:pt x="423497" y="479204"/>
                </a:lnTo>
                <a:lnTo>
                  <a:pt x="0" y="4792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6" name="TextBox 6">
            <a:extLst>
              <a:ext uri="{FF2B5EF4-FFF2-40B4-BE49-F238E27FC236}">
                <a16:creationId xmlns:a16="http://schemas.microsoft.com/office/drawing/2014/main" id="{A6EC6EC5-B790-1431-2227-3720509064BC}"/>
              </a:ext>
            </a:extLst>
          </p:cNvPr>
          <p:cNvSpPr txBox="1"/>
          <p:nvPr/>
        </p:nvSpPr>
        <p:spPr>
          <a:xfrm>
            <a:off x="1147191" y="880974"/>
            <a:ext cx="2628794"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BorcellE UNIVERSITY</a:t>
            </a:r>
          </a:p>
        </p:txBody>
      </p:sp>
      <p:sp>
        <p:nvSpPr>
          <p:cNvPr id="7" name="TextBox 7">
            <a:extLst>
              <a:ext uri="{FF2B5EF4-FFF2-40B4-BE49-F238E27FC236}">
                <a16:creationId xmlns:a16="http://schemas.microsoft.com/office/drawing/2014/main" id="{2CAFE0B1-BA23-B58E-909C-1365EE73D979}"/>
              </a:ext>
            </a:extLst>
          </p:cNvPr>
          <p:cNvSpPr txBox="1"/>
          <p:nvPr/>
        </p:nvSpPr>
        <p:spPr>
          <a:xfrm>
            <a:off x="12120038" y="880974"/>
            <a:ext cx="76416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HOME</a:t>
            </a:r>
          </a:p>
        </p:txBody>
      </p:sp>
      <p:sp>
        <p:nvSpPr>
          <p:cNvPr id="8" name="TextBox 8">
            <a:extLst>
              <a:ext uri="{FF2B5EF4-FFF2-40B4-BE49-F238E27FC236}">
                <a16:creationId xmlns:a16="http://schemas.microsoft.com/office/drawing/2014/main" id="{15FC9DE0-79B2-68A8-EF7B-1108C72F8A92}"/>
              </a:ext>
            </a:extLst>
          </p:cNvPr>
          <p:cNvSpPr txBox="1"/>
          <p:nvPr/>
        </p:nvSpPr>
        <p:spPr>
          <a:xfrm>
            <a:off x="13236623" y="880974"/>
            <a:ext cx="764161" cy="277407"/>
          </a:xfrm>
          <a:prstGeom prst="rect">
            <a:avLst/>
          </a:prstGeom>
        </p:spPr>
        <p:txBody>
          <a:bodyPr lIns="0" tIns="0" rIns="0" bIns="0" rtlCol="0" anchor="t">
            <a:spAutoFit/>
          </a:bodyPr>
          <a:lstStyle/>
          <a:p>
            <a:pPr algn="l">
              <a:lnSpc>
                <a:spcPts val="2171"/>
              </a:lnSpc>
            </a:pPr>
            <a:r>
              <a:rPr lang="en-US" sz="1817" b="1" u="sng" spc="-75">
                <a:solidFill>
                  <a:srgbClr val="FFFFFF"/>
                </a:solidFill>
                <a:latin typeface="Roboto Bold"/>
                <a:ea typeface="Roboto Bold"/>
                <a:cs typeface="Roboto Bold"/>
                <a:sym typeface="Roboto Bold"/>
              </a:rPr>
              <a:t>ABOUT</a:t>
            </a:r>
          </a:p>
        </p:txBody>
      </p:sp>
      <p:sp>
        <p:nvSpPr>
          <p:cNvPr id="9" name="TextBox 9">
            <a:extLst>
              <a:ext uri="{FF2B5EF4-FFF2-40B4-BE49-F238E27FC236}">
                <a16:creationId xmlns:a16="http://schemas.microsoft.com/office/drawing/2014/main" id="{0775B9CF-3CFC-330D-3BCC-6289BE072342}"/>
              </a:ext>
            </a:extLst>
          </p:cNvPr>
          <p:cNvSpPr txBox="1"/>
          <p:nvPr/>
        </p:nvSpPr>
        <p:spPr>
          <a:xfrm>
            <a:off x="14353209" y="880974"/>
            <a:ext cx="100038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RESULT</a:t>
            </a:r>
          </a:p>
        </p:txBody>
      </p:sp>
      <p:sp>
        <p:nvSpPr>
          <p:cNvPr id="10" name="TextBox 10">
            <a:extLst>
              <a:ext uri="{FF2B5EF4-FFF2-40B4-BE49-F238E27FC236}">
                <a16:creationId xmlns:a16="http://schemas.microsoft.com/office/drawing/2014/main" id="{82C29EF3-46A3-1AF4-F584-74803B0D9A4B}"/>
              </a:ext>
            </a:extLst>
          </p:cNvPr>
          <p:cNvSpPr txBox="1"/>
          <p:nvPr/>
        </p:nvSpPr>
        <p:spPr>
          <a:xfrm>
            <a:off x="15575531" y="880974"/>
            <a:ext cx="143472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CONCLUSION</a:t>
            </a:r>
          </a:p>
        </p:txBody>
      </p:sp>
      <p:sp>
        <p:nvSpPr>
          <p:cNvPr id="5" name="TextBox 4">
            <a:extLst>
              <a:ext uri="{FF2B5EF4-FFF2-40B4-BE49-F238E27FC236}">
                <a16:creationId xmlns:a16="http://schemas.microsoft.com/office/drawing/2014/main" id="{087A46B2-2DBB-655D-D743-97F4239EA856}"/>
              </a:ext>
            </a:extLst>
          </p:cNvPr>
          <p:cNvSpPr txBox="1"/>
          <p:nvPr/>
        </p:nvSpPr>
        <p:spPr>
          <a:xfrm>
            <a:off x="2512645" y="342900"/>
            <a:ext cx="15759658" cy="2585323"/>
          </a:xfrm>
          <a:prstGeom prst="rect">
            <a:avLst/>
          </a:prstGeom>
          <a:noFill/>
        </p:spPr>
        <p:txBody>
          <a:bodyPr wrap="square" rtlCol="0">
            <a:spAutoFit/>
          </a:bodyPr>
          <a:lstStyle/>
          <a:p>
            <a:r>
              <a:rPr lang="en-PH" sz="5400" b="1" dirty="0">
                <a:solidFill>
                  <a:srgbClr val="FF0000"/>
                </a:solidFill>
                <a:latin typeface="Times New Roman" panose="02020603050405020304" pitchFamily="18" charset="0"/>
                <a:cs typeface="Times New Roman" panose="02020603050405020304" pitchFamily="18" charset="0"/>
              </a:rPr>
              <a:t>Factors Affecting Communication with Research Participants Among Grade 12 Students in Practical Research 1 at LIFE Institute </a:t>
            </a:r>
            <a:r>
              <a:rPr lang="en-PH" sz="5400" b="1" dirty="0" err="1">
                <a:solidFill>
                  <a:srgbClr val="FF0000"/>
                </a:solidFill>
                <a:latin typeface="Times New Roman" panose="02020603050405020304" pitchFamily="18" charset="0"/>
                <a:cs typeface="Times New Roman" panose="02020603050405020304" pitchFamily="18" charset="0"/>
              </a:rPr>
              <a:t>Mariveles</a:t>
            </a:r>
            <a:endParaRPr lang="en-US" sz="5400" dirty="0">
              <a:solidFill>
                <a:srgbClr val="FF000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EC664A9-3D02-2CBA-4D2C-23F270D5977E}"/>
              </a:ext>
            </a:extLst>
          </p:cNvPr>
          <p:cNvSpPr txBox="1"/>
          <p:nvPr/>
        </p:nvSpPr>
        <p:spPr>
          <a:xfrm>
            <a:off x="2743200" y="3232829"/>
            <a:ext cx="14536549" cy="5770811"/>
          </a:xfrm>
          <a:prstGeom prst="rect">
            <a:avLst/>
          </a:prstGeom>
          <a:noFill/>
        </p:spPr>
        <p:txBody>
          <a:bodyPr wrap="square" rtlCol="0">
            <a:spAutoFit/>
          </a:bodyPr>
          <a:lstStyle/>
          <a:p>
            <a:pPr algn="just"/>
            <a:r>
              <a:rPr lang="en-PH" sz="4100" dirty="0">
                <a:latin typeface="Times New Roman" panose="02020603050405020304" pitchFamily="18" charset="0"/>
                <a:cs typeface="Times New Roman" panose="02020603050405020304" pitchFamily="18" charset="0"/>
              </a:rPr>
              <a:t>The main goal of this study is to determine the factors that affect communication between Grade 12 student-researchers and their research participants in Practical Research 1at LIFE Institute </a:t>
            </a:r>
            <a:r>
              <a:rPr lang="en-PH" sz="4100" dirty="0" err="1">
                <a:latin typeface="Times New Roman" panose="02020603050405020304" pitchFamily="18" charset="0"/>
                <a:cs typeface="Times New Roman" panose="02020603050405020304" pitchFamily="18" charset="0"/>
              </a:rPr>
              <a:t>Mariveles</a:t>
            </a:r>
            <a:r>
              <a:rPr lang="en-PH" sz="4100" dirty="0">
                <a:latin typeface="Times New Roman" panose="02020603050405020304" pitchFamily="18" charset="0"/>
                <a:cs typeface="Times New Roman" panose="02020603050405020304" pitchFamily="18" charset="0"/>
              </a:rPr>
              <a:t>. Specifically, the study seeks to examine how the informed consent process, the mode of communication used, participant availability and responsiveness, and the student-researcher's own confidence or comfort level influence the clarity, honesty, and overall quality of communication during data collection.</a:t>
            </a:r>
            <a:endParaRPr lang="en-US" sz="4100" dirty="0">
              <a:latin typeface="Times New Roman" panose="02020603050405020304" pitchFamily="18" charset="0"/>
              <a:cs typeface="Times New Roman" panose="02020603050405020304" pitchFamily="18" charset="0"/>
            </a:endParaRPr>
          </a:p>
        </p:txBody>
      </p:sp>
      <p:sp>
        <p:nvSpPr>
          <p:cNvPr id="4" name="Arrow: Pentagon 3">
            <a:extLst>
              <a:ext uri="{FF2B5EF4-FFF2-40B4-BE49-F238E27FC236}">
                <a16:creationId xmlns:a16="http://schemas.microsoft.com/office/drawing/2014/main" id="{79CD4975-7576-E8C9-5CB2-C28463512C14}"/>
              </a:ext>
            </a:extLst>
          </p:cNvPr>
          <p:cNvSpPr/>
          <p:nvPr/>
        </p:nvSpPr>
        <p:spPr>
          <a:xfrm rot="5400000">
            <a:off x="-3258028" y="3718157"/>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73041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Pentagon 3">
            <a:extLst>
              <a:ext uri="{FF2B5EF4-FFF2-40B4-BE49-F238E27FC236}">
                <a16:creationId xmlns:a16="http://schemas.microsoft.com/office/drawing/2014/main" id="{1CEF6F1F-3D7D-30EE-8C1E-7B06B53C6921}"/>
              </a:ext>
            </a:extLst>
          </p:cNvPr>
          <p:cNvSpPr/>
          <p:nvPr/>
        </p:nvSpPr>
        <p:spPr>
          <a:xfrm rot="5400000">
            <a:off x="-3398262" y="3726442"/>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a:extLst>
              <a:ext uri="{FF2B5EF4-FFF2-40B4-BE49-F238E27FC236}">
                <a16:creationId xmlns:a16="http://schemas.microsoft.com/office/drawing/2014/main" id="{DDDE95E0-047C-B11E-969D-4AF1E2632E47}"/>
              </a:ext>
            </a:extLst>
          </p:cNvPr>
          <p:cNvGraphicFramePr>
            <a:graphicFrameLocks noGrp="1"/>
          </p:cNvGraphicFramePr>
          <p:nvPr>
            <p:extLst>
              <p:ext uri="{D42A27DB-BD31-4B8C-83A1-F6EECF244321}">
                <p14:modId xmlns:p14="http://schemas.microsoft.com/office/powerpoint/2010/main" val="980045649"/>
              </p:ext>
            </p:extLst>
          </p:nvPr>
        </p:nvGraphicFramePr>
        <p:xfrm>
          <a:off x="3276600" y="685100"/>
          <a:ext cx="12611100" cy="7770056"/>
        </p:xfrm>
        <a:graphic>
          <a:graphicData uri="http://schemas.openxmlformats.org/drawingml/2006/table">
            <a:tbl>
              <a:tblPr firstRow="1" bandRow="1">
                <a:tableStyleId>{21E4AEA4-8DFA-4A89-87EB-49C32662AFE0}</a:tableStyleId>
              </a:tblPr>
              <a:tblGrid>
                <a:gridCol w="6556230">
                  <a:extLst>
                    <a:ext uri="{9D8B030D-6E8A-4147-A177-3AD203B41FA5}">
                      <a16:colId xmlns:a16="http://schemas.microsoft.com/office/drawing/2014/main" val="637227911"/>
                    </a:ext>
                  </a:extLst>
                </a:gridCol>
                <a:gridCol w="6054870">
                  <a:extLst>
                    <a:ext uri="{9D8B030D-6E8A-4147-A177-3AD203B41FA5}">
                      <a16:colId xmlns:a16="http://schemas.microsoft.com/office/drawing/2014/main" val="3985746033"/>
                    </a:ext>
                  </a:extLst>
                </a:gridCol>
              </a:tblGrid>
              <a:tr h="820615">
                <a:tc>
                  <a:txBody>
                    <a:bodyPr/>
                    <a:lstStyle/>
                    <a:p>
                      <a:pPr algn="ctr"/>
                      <a:r>
                        <a:rPr lang="en-PH" sz="4800" dirty="0">
                          <a:latin typeface="Times New Roman" panose="02020603050405020304" pitchFamily="18" charset="0"/>
                          <a:cs typeface="Times New Roman" panose="02020603050405020304" pitchFamily="18" charset="0"/>
                        </a:rPr>
                        <a:t>Independent Variable</a:t>
                      </a:r>
                    </a:p>
                  </a:txBody>
                  <a:tcPr/>
                </a:tc>
                <a:tc>
                  <a:txBody>
                    <a:bodyPr/>
                    <a:lstStyle/>
                    <a:p>
                      <a:pPr algn="ctr"/>
                      <a:r>
                        <a:rPr lang="en-US" sz="4800" dirty="0">
                          <a:latin typeface="Times New Roman" panose="02020603050405020304" pitchFamily="18" charset="0"/>
                          <a:cs typeface="Times New Roman" panose="02020603050405020304" pitchFamily="18" charset="0"/>
                        </a:rPr>
                        <a:t>Dependent Variable</a:t>
                      </a:r>
                      <a:endParaRPr lang="en-PH" sz="4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70457663"/>
                  </a:ext>
                </a:extLst>
              </a:tr>
              <a:tr h="1846385">
                <a:tc>
                  <a:txBody>
                    <a:bodyPr/>
                    <a:lstStyle/>
                    <a:p>
                      <a:pPr algn="ctr"/>
                      <a:r>
                        <a:rPr lang="en-PH" sz="4000" dirty="0">
                          <a:latin typeface="Times New Roman" panose="02020603050405020304" pitchFamily="18" charset="0"/>
                          <a:cs typeface="Times New Roman" panose="02020603050405020304" pitchFamily="18" charset="0"/>
                        </a:rPr>
                        <a:t>Mode/channel of communication (face-to-face, online, message-based)</a:t>
                      </a:r>
                    </a:p>
                  </a:txBody>
                  <a:tcPr/>
                </a:tc>
                <a:tc>
                  <a:txBody>
                    <a:bodyPr/>
                    <a:lstStyle/>
                    <a:p>
                      <a:pPr algn="ctr"/>
                      <a:r>
                        <a:rPr lang="en-PH" sz="4000" dirty="0">
                          <a:latin typeface="Times New Roman" panose="02020603050405020304" pitchFamily="18" charset="0"/>
                          <a:cs typeface="Times New Roman" panose="02020603050405020304" pitchFamily="18" charset="0"/>
                        </a:rPr>
                        <a:t>Clarity and completeness of information exchanged</a:t>
                      </a:r>
                    </a:p>
                  </a:txBody>
                  <a:tcPr/>
                </a:tc>
                <a:extLst>
                  <a:ext uri="{0D108BD9-81ED-4DB2-BD59-A6C34878D82A}">
                    <a16:rowId xmlns:a16="http://schemas.microsoft.com/office/drawing/2014/main" val="125264073"/>
                  </a:ext>
                </a:extLst>
              </a:tr>
              <a:tr h="1260231">
                <a:tc>
                  <a:txBody>
                    <a:bodyPr/>
                    <a:lstStyle/>
                    <a:p>
                      <a:pPr algn="ctr"/>
                      <a:r>
                        <a:rPr lang="en-PH" sz="4000" dirty="0">
                          <a:latin typeface="Times New Roman" panose="02020603050405020304" pitchFamily="18" charset="0"/>
                          <a:cs typeface="Times New Roman" panose="02020603050405020304" pitchFamily="18" charset="0"/>
                        </a:rPr>
                        <a:t>Informed consent process</a:t>
                      </a:r>
                    </a:p>
                  </a:txBody>
                  <a:tcPr/>
                </a:tc>
                <a:tc>
                  <a:txBody>
                    <a:bodyPr/>
                    <a:lstStyle/>
                    <a:p>
                      <a:pPr algn="ctr"/>
                      <a:r>
                        <a:rPr lang="en-PH" sz="4000" dirty="0">
                          <a:latin typeface="Times New Roman" panose="02020603050405020304" pitchFamily="18" charset="0"/>
                          <a:cs typeface="Times New Roman" panose="02020603050405020304" pitchFamily="18" charset="0"/>
                        </a:rPr>
                        <a:t>Participant comfort and trust</a:t>
                      </a:r>
                    </a:p>
                  </a:txBody>
                  <a:tcPr/>
                </a:tc>
                <a:extLst>
                  <a:ext uri="{0D108BD9-81ED-4DB2-BD59-A6C34878D82A}">
                    <a16:rowId xmlns:a16="http://schemas.microsoft.com/office/drawing/2014/main" val="440645854"/>
                  </a:ext>
                </a:extLst>
              </a:tr>
              <a:tr h="1846385">
                <a:tc>
                  <a:txBody>
                    <a:bodyPr/>
                    <a:lstStyle/>
                    <a:p>
                      <a:pPr algn="ctr"/>
                      <a:r>
                        <a:rPr lang="en-PH" sz="4000" dirty="0">
                          <a:latin typeface="Times New Roman" panose="02020603050405020304" pitchFamily="18" charset="0"/>
                          <a:cs typeface="Times New Roman" panose="02020603050405020304" pitchFamily="18" charset="0"/>
                        </a:rPr>
                        <a:t>Student-researcher's communication skills and confidence</a:t>
                      </a:r>
                    </a:p>
                  </a:txBody>
                  <a:tcPr/>
                </a:tc>
                <a:tc>
                  <a:txBody>
                    <a:bodyPr/>
                    <a:lstStyle/>
                    <a:p>
                      <a:pPr algn="ctr"/>
                      <a:r>
                        <a:rPr lang="en-PH" sz="4000" dirty="0">
                          <a:latin typeface="Times New Roman" panose="02020603050405020304" pitchFamily="18" charset="0"/>
                          <a:cs typeface="Times New Roman" panose="02020603050405020304" pitchFamily="18" charset="0"/>
                        </a:rPr>
                        <a:t>Willingness of participants to disclose information</a:t>
                      </a:r>
                    </a:p>
                  </a:txBody>
                  <a:tcPr/>
                </a:tc>
                <a:extLst>
                  <a:ext uri="{0D108BD9-81ED-4DB2-BD59-A6C34878D82A}">
                    <a16:rowId xmlns:a16="http://schemas.microsoft.com/office/drawing/2014/main" val="2062906851"/>
                  </a:ext>
                </a:extLst>
              </a:tr>
              <a:tr h="1846385">
                <a:tc>
                  <a:txBody>
                    <a:bodyPr/>
                    <a:lstStyle/>
                    <a:p>
                      <a:pPr algn="ctr"/>
                      <a:r>
                        <a:rPr lang="en-PH" sz="4000" dirty="0">
                          <a:latin typeface="Times New Roman" panose="02020603050405020304" pitchFamily="18" charset="0"/>
                          <a:cs typeface="Times New Roman" panose="02020603050405020304" pitchFamily="18" charset="0"/>
                        </a:rPr>
                        <a:t>Participant availability</a:t>
                      </a:r>
                    </a:p>
                  </a:txBody>
                  <a:tcPr/>
                </a:tc>
                <a:tc>
                  <a:txBody>
                    <a:bodyPr/>
                    <a:lstStyle/>
                    <a:p>
                      <a:pPr algn="ctr"/>
                      <a:r>
                        <a:rPr lang="en-PH" sz="4000" dirty="0">
                          <a:latin typeface="Times New Roman" panose="02020603050405020304" pitchFamily="18" charset="0"/>
                          <a:cs typeface="Times New Roman" panose="02020603050405020304" pitchFamily="18" charset="0"/>
                        </a:rPr>
                        <a:t>Frequency of participant response</a:t>
                      </a:r>
                    </a:p>
                  </a:txBody>
                  <a:tcPr/>
                </a:tc>
                <a:extLst>
                  <a:ext uri="{0D108BD9-81ED-4DB2-BD59-A6C34878D82A}">
                    <a16:rowId xmlns:a16="http://schemas.microsoft.com/office/drawing/2014/main" val="140433489"/>
                  </a:ext>
                </a:extLst>
              </a:tr>
            </a:tbl>
          </a:graphicData>
        </a:graphic>
      </p:graphicFrame>
    </p:spTree>
    <p:extLst>
      <p:ext uri="{BB962C8B-B14F-4D97-AF65-F5344CB8AC3E}">
        <p14:creationId xmlns:p14="http://schemas.microsoft.com/office/powerpoint/2010/main" val="3216366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FC7BB-9998-BBC9-12D3-44425C8F5E60}"/>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77E65A70-A85E-D4A0-A1C0-271851759F50}"/>
              </a:ext>
            </a:extLst>
          </p:cNvPr>
          <p:cNvSpPr/>
          <p:nvPr/>
        </p:nvSpPr>
        <p:spPr>
          <a:xfrm>
            <a:off x="11311046" y="789098"/>
            <a:ext cx="423497" cy="479205"/>
          </a:xfrm>
          <a:custGeom>
            <a:avLst/>
            <a:gdLst/>
            <a:ahLst/>
            <a:cxnLst/>
            <a:rect l="l" t="t" r="r" b="b"/>
            <a:pathLst>
              <a:path w="423497" h="479205">
                <a:moveTo>
                  <a:pt x="0" y="0"/>
                </a:moveTo>
                <a:lnTo>
                  <a:pt x="423497" y="0"/>
                </a:lnTo>
                <a:lnTo>
                  <a:pt x="423497" y="479204"/>
                </a:lnTo>
                <a:lnTo>
                  <a:pt x="0" y="4792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6" name="TextBox 6">
            <a:extLst>
              <a:ext uri="{FF2B5EF4-FFF2-40B4-BE49-F238E27FC236}">
                <a16:creationId xmlns:a16="http://schemas.microsoft.com/office/drawing/2014/main" id="{3F8E4EAB-E663-1EBA-F113-2E034F09A5BB}"/>
              </a:ext>
            </a:extLst>
          </p:cNvPr>
          <p:cNvSpPr txBox="1"/>
          <p:nvPr/>
        </p:nvSpPr>
        <p:spPr>
          <a:xfrm>
            <a:off x="1147191" y="880974"/>
            <a:ext cx="2628794"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BorcellE UNIVERSITY</a:t>
            </a:r>
          </a:p>
        </p:txBody>
      </p:sp>
      <p:sp>
        <p:nvSpPr>
          <p:cNvPr id="7" name="TextBox 7">
            <a:extLst>
              <a:ext uri="{FF2B5EF4-FFF2-40B4-BE49-F238E27FC236}">
                <a16:creationId xmlns:a16="http://schemas.microsoft.com/office/drawing/2014/main" id="{1A6EB732-26E7-E779-518C-3EA2CB33D390}"/>
              </a:ext>
            </a:extLst>
          </p:cNvPr>
          <p:cNvSpPr txBox="1"/>
          <p:nvPr/>
        </p:nvSpPr>
        <p:spPr>
          <a:xfrm>
            <a:off x="12120038" y="880974"/>
            <a:ext cx="76416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HOME</a:t>
            </a:r>
          </a:p>
        </p:txBody>
      </p:sp>
      <p:sp>
        <p:nvSpPr>
          <p:cNvPr id="8" name="TextBox 8">
            <a:extLst>
              <a:ext uri="{FF2B5EF4-FFF2-40B4-BE49-F238E27FC236}">
                <a16:creationId xmlns:a16="http://schemas.microsoft.com/office/drawing/2014/main" id="{85B1793B-F709-1E5C-813D-73C0665245A9}"/>
              </a:ext>
            </a:extLst>
          </p:cNvPr>
          <p:cNvSpPr txBox="1"/>
          <p:nvPr/>
        </p:nvSpPr>
        <p:spPr>
          <a:xfrm>
            <a:off x="13236623" y="880974"/>
            <a:ext cx="764161" cy="277407"/>
          </a:xfrm>
          <a:prstGeom prst="rect">
            <a:avLst/>
          </a:prstGeom>
        </p:spPr>
        <p:txBody>
          <a:bodyPr lIns="0" tIns="0" rIns="0" bIns="0" rtlCol="0" anchor="t">
            <a:spAutoFit/>
          </a:bodyPr>
          <a:lstStyle/>
          <a:p>
            <a:pPr algn="l">
              <a:lnSpc>
                <a:spcPts val="2171"/>
              </a:lnSpc>
            </a:pPr>
            <a:r>
              <a:rPr lang="en-US" sz="1817" b="1" u="sng" spc="-75">
                <a:solidFill>
                  <a:srgbClr val="FFFFFF"/>
                </a:solidFill>
                <a:latin typeface="Roboto Bold"/>
                <a:ea typeface="Roboto Bold"/>
                <a:cs typeface="Roboto Bold"/>
                <a:sym typeface="Roboto Bold"/>
              </a:rPr>
              <a:t>ABOUT</a:t>
            </a:r>
          </a:p>
        </p:txBody>
      </p:sp>
      <p:sp>
        <p:nvSpPr>
          <p:cNvPr id="9" name="TextBox 9">
            <a:extLst>
              <a:ext uri="{FF2B5EF4-FFF2-40B4-BE49-F238E27FC236}">
                <a16:creationId xmlns:a16="http://schemas.microsoft.com/office/drawing/2014/main" id="{57A4B9E6-9A35-22F7-A4F5-6DB2235C9651}"/>
              </a:ext>
            </a:extLst>
          </p:cNvPr>
          <p:cNvSpPr txBox="1"/>
          <p:nvPr/>
        </p:nvSpPr>
        <p:spPr>
          <a:xfrm>
            <a:off x="14353209" y="880974"/>
            <a:ext cx="100038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RESULT</a:t>
            </a:r>
          </a:p>
        </p:txBody>
      </p:sp>
      <p:sp>
        <p:nvSpPr>
          <p:cNvPr id="10" name="TextBox 10">
            <a:extLst>
              <a:ext uri="{FF2B5EF4-FFF2-40B4-BE49-F238E27FC236}">
                <a16:creationId xmlns:a16="http://schemas.microsoft.com/office/drawing/2014/main" id="{04219ABD-DF41-48DF-D75C-4EC46A3893A8}"/>
              </a:ext>
            </a:extLst>
          </p:cNvPr>
          <p:cNvSpPr txBox="1"/>
          <p:nvPr/>
        </p:nvSpPr>
        <p:spPr>
          <a:xfrm>
            <a:off x="15575531" y="880974"/>
            <a:ext cx="143472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CONCLUSION</a:t>
            </a:r>
          </a:p>
        </p:txBody>
      </p:sp>
      <p:sp>
        <p:nvSpPr>
          <p:cNvPr id="13" name="TextBox 12">
            <a:extLst>
              <a:ext uri="{FF2B5EF4-FFF2-40B4-BE49-F238E27FC236}">
                <a16:creationId xmlns:a16="http://schemas.microsoft.com/office/drawing/2014/main" id="{461EC53C-7DAB-B802-11B2-0FBE3708D219}"/>
              </a:ext>
            </a:extLst>
          </p:cNvPr>
          <p:cNvSpPr txBox="1"/>
          <p:nvPr/>
        </p:nvSpPr>
        <p:spPr>
          <a:xfrm>
            <a:off x="2667000" y="880974"/>
            <a:ext cx="14661722" cy="7478970"/>
          </a:xfrm>
          <a:prstGeom prst="rect">
            <a:avLst/>
          </a:prstGeom>
          <a:noFill/>
        </p:spPr>
        <p:txBody>
          <a:bodyPr wrap="square" rtlCol="0">
            <a:spAutoFit/>
          </a:bodyPr>
          <a:lstStyle/>
          <a:p>
            <a:pPr marL="685800" indent="-685800" algn="just">
              <a:buFont typeface="Arial" panose="020B0604020202020204" pitchFamily="34" charset="0"/>
              <a:buChar char="•"/>
            </a:pPr>
            <a:r>
              <a:rPr lang="en-PH" sz="4000" dirty="0">
                <a:latin typeface="Times New Roman" panose="02020603050405020304" pitchFamily="18" charset="0"/>
                <a:cs typeface="Times New Roman" panose="02020603050405020304" pitchFamily="18" charset="0"/>
              </a:rPr>
              <a:t>Gelinas et al. (2021) examine online communication as an important but risky channel for interacting with clinical research participants. The authors note that most existing discussions focus on mitigating these risks, with little attention paid to the genuine benefits online communication offers participants. They present a taxonomy of these benefits and argue against simply restricting online communication, proposing instead a context-sensitive approach built on participant education. This is relevant here because it reframes communication as a channel with real value that student-researchers should use thoughtfully, which is useful for examining the benefits and difficulties Grade 12 researchers report when communicating with participants online.</a:t>
            </a:r>
            <a:endParaRPr lang="en-US" sz="4000" dirty="0">
              <a:latin typeface="Times New Roman" panose="02020603050405020304" pitchFamily="18" charset="0"/>
              <a:cs typeface="Times New Roman" panose="02020603050405020304" pitchFamily="18" charset="0"/>
            </a:endParaRPr>
          </a:p>
        </p:txBody>
      </p:sp>
      <p:sp>
        <p:nvSpPr>
          <p:cNvPr id="4" name="Arrow: Pentagon 3">
            <a:extLst>
              <a:ext uri="{FF2B5EF4-FFF2-40B4-BE49-F238E27FC236}">
                <a16:creationId xmlns:a16="http://schemas.microsoft.com/office/drawing/2014/main" id="{72A12318-71EE-03D9-374E-78016E096B5F}"/>
              </a:ext>
            </a:extLst>
          </p:cNvPr>
          <p:cNvSpPr/>
          <p:nvPr/>
        </p:nvSpPr>
        <p:spPr>
          <a:xfrm rot="5400000">
            <a:off x="-3245862" y="3726442"/>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364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2DDE0-D7CF-3EA4-B436-304B2B67C3B8}"/>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789A7B9B-E6A4-AAD9-DBF8-010941F5E911}"/>
              </a:ext>
            </a:extLst>
          </p:cNvPr>
          <p:cNvSpPr/>
          <p:nvPr/>
        </p:nvSpPr>
        <p:spPr>
          <a:xfrm>
            <a:off x="11311046" y="789098"/>
            <a:ext cx="423497" cy="479205"/>
          </a:xfrm>
          <a:custGeom>
            <a:avLst/>
            <a:gdLst/>
            <a:ahLst/>
            <a:cxnLst/>
            <a:rect l="l" t="t" r="r" b="b"/>
            <a:pathLst>
              <a:path w="423497" h="479205">
                <a:moveTo>
                  <a:pt x="0" y="0"/>
                </a:moveTo>
                <a:lnTo>
                  <a:pt x="423497" y="0"/>
                </a:lnTo>
                <a:lnTo>
                  <a:pt x="423497" y="479204"/>
                </a:lnTo>
                <a:lnTo>
                  <a:pt x="0" y="4792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6" name="TextBox 6">
            <a:extLst>
              <a:ext uri="{FF2B5EF4-FFF2-40B4-BE49-F238E27FC236}">
                <a16:creationId xmlns:a16="http://schemas.microsoft.com/office/drawing/2014/main" id="{25E2F426-52B8-6C63-084B-DAAAE137202D}"/>
              </a:ext>
            </a:extLst>
          </p:cNvPr>
          <p:cNvSpPr txBox="1"/>
          <p:nvPr/>
        </p:nvSpPr>
        <p:spPr>
          <a:xfrm>
            <a:off x="1147191" y="880974"/>
            <a:ext cx="2628794"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BorcellE UNIVERSITY</a:t>
            </a:r>
          </a:p>
        </p:txBody>
      </p:sp>
      <p:sp>
        <p:nvSpPr>
          <p:cNvPr id="7" name="TextBox 7">
            <a:extLst>
              <a:ext uri="{FF2B5EF4-FFF2-40B4-BE49-F238E27FC236}">
                <a16:creationId xmlns:a16="http://schemas.microsoft.com/office/drawing/2014/main" id="{0F22CE11-0601-69BF-7D18-8DA30CD09785}"/>
              </a:ext>
            </a:extLst>
          </p:cNvPr>
          <p:cNvSpPr txBox="1"/>
          <p:nvPr/>
        </p:nvSpPr>
        <p:spPr>
          <a:xfrm>
            <a:off x="12120038" y="880974"/>
            <a:ext cx="76416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HOME</a:t>
            </a:r>
          </a:p>
        </p:txBody>
      </p:sp>
      <p:sp>
        <p:nvSpPr>
          <p:cNvPr id="8" name="TextBox 8">
            <a:extLst>
              <a:ext uri="{FF2B5EF4-FFF2-40B4-BE49-F238E27FC236}">
                <a16:creationId xmlns:a16="http://schemas.microsoft.com/office/drawing/2014/main" id="{A3252285-9F7E-4D69-3F3C-B860EFDBE5FF}"/>
              </a:ext>
            </a:extLst>
          </p:cNvPr>
          <p:cNvSpPr txBox="1"/>
          <p:nvPr/>
        </p:nvSpPr>
        <p:spPr>
          <a:xfrm>
            <a:off x="13236623" y="880974"/>
            <a:ext cx="764161" cy="277407"/>
          </a:xfrm>
          <a:prstGeom prst="rect">
            <a:avLst/>
          </a:prstGeom>
        </p:spPr>
        <p:txBody>
          <a:bodyPr lIns="0" tIns="0" rIns="0" bIns="0" rtlCol="0" anchor="t">
            <a:spAutoFit/>
          </a:bodyPr>
          <a:lstStyle/>
          <a:p>
            <a:pPr algn="l">
              <a:lnSpc>
                <a:spcPts val="2171"/>
              </a:lnSpc>
            </a:pPr>
            <a:r>
              <a:rPr lang="en-US" sz="1817" b="1" u="sng" spc="-75">
                <a:solidFill>
                  <a:srgbClr val="FFFFFF"/>
                </a:solidFill>
                <a:latin typeface="Roboto Bold"/>
                <a:ea typeface="Roboto Bold"/>
                <a:cs typeface="Roboto Bold"/>
                <a:sym typeface="Roboto Bold"/>
              </a:rPr>
              <a:t>ABOUT</a:t>
            </a:r>
          </a:p>
        </p:txBody>
      </p:sp>
      <p:sp>
        <p:nvSpPr>
          <p:cNvPr id="9" name="TextBox 9">
            <a:extLst>
              <a:ext uri="{FF2B5EF4-FFF2-40B4-BE49-F238E27FC236}">
                <a16:creationId xmlns:a16="http://schemas.microsoft.com/office/drawing/2014/main" id="{B230FB12-EE53-1129-1702-5ADF9AA8366B}"/>
              </a:ext>
            </a:extLst>
          </p:cNvPr>
          <p:cNvSpPr txBox="1"/>
          <p:nvPr/>
        </p:nvSpPr>
        <p:spPr>
          <a:xfrm>
            <a:off x="14353209" y="880974"/>
            <a:ext cx="100038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RESULT</a:t>
            </a:r>
          </a:p>
        </p:txBody>
      </p:sp>
      <p:sp>
        <p:nvSpPr>
          <p:cNvPr id="10" name="TextBox 10">
            <a:extLst>
              <a:ext uri="{FF2B5EF4-FFF2-40B4-BE49-F238E27FC236}">
                <a16:creationId xmlns:a16="http://schemas.microsoft.com/office/drawing/2014/main" id="{56E0C76F-F511-5741-5199-C164FEBAA319}"/>
              </a:ext>
            </a:extLst>
          </p:cNvPr>
          <p:cNvSpPr txBox="1"/>
          <p:nvPr/>
        </p:nvSpPr>
        <p:spPr>
          <a:xfrm>
            <a:off x="15575531" y="880974"/>
            <a:ext cx="143472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CONCLUSION</a:t>
            </a:r>
          </a:p>
        </p:txBody>
      </p:sp>
      <p:sp>
        <p:nvSpPr>
          <p:cNvPr id="13" name="TextBox 12">
            <a:extLst>
              <a:ext uri="{FF2B5EF4-FFF2-40B4-BE49-F238E27FC236}">
                <a16:creationId xmlns:a16="http://schemas.microsoft.com/office/drawing/2014/main" id="{8F4F9E24-F1C7-C0FE-9943-86B31780CC46}"/>
              </a:ext>
            </a:extLst>
          </p:cNvPr>
          <p:cNvSpPr txBox="1"/>
          <p:nvPr/>
        </p:nvSpPr>
        <p:spPr>
          <a:xfrm>
            <a:off x="2667000" y="880974"/>
            <a:ext cx="14935200" cy="7478970"/>
          </a:xfrm>
          <a:prstGeom prst="rect">
            <a:avLst/>
          </a:prstGeom>
          <a:noFill/>
        </p:spPr>
        <p:txBody>
          <a:bodyPr wrap="square" rtlCol="0">
            <a:spAutoFit/>
          </a:bodyPr>
          <a:lstStyle/>
          <a:p>
            <a:pPr marL="685800" indent="-685800" algn="just">
              <a:buFont typeface="Arial" panose="020B0604020202020204" pitchFamily="34" charset="0"/>
              <a:buChar char="•"/>
            </a:pPr>
            <a:r>
              <a:rPr lang="en-PH" sz="4000" dirty="0" err="1">
                <a:latin typeface="Times New Roman" panose="02020603050405020304" pitchFamily="18" charset="0"/>
                <a:cs typeface="Times New Roman" panose="02020603050405020304" pitchFamily="18" charset="0"/>
              </a:rPr>
              <a:t>Eeckhout</a:t>
            </a:r>
            <a:r>
              <a:rPr lang="en-PH" sz="4000" dirty="0">
                <a:latin typeface="Times New Roman" panose="02020603050405020304" pitchFamily="18" charset="0"/>
                <a:cs typeface="Times New Roman" panose="02020603050405020304" pitchFamily="18" charset="0"/>
              </a:rPr>
              <a:t> et al. (2022) examined the communication barriers research staff face when explaining research participation to potential participants, using semi-structured interviews with thirteen research staff at a university hospital. The findings showed that both communication-related and process-related factors affect the informed consent process, leading the researchers to recommend communication training, more interactive materials, and digital alternatives. This is relevant because it shows that the quality of communication, not just the information conveyed, determines how well participants understand and engage with a study, mirroring the challenges Grade 12 researchers may face when explaining their own research.</a:t>
            </a:r>
            <a:endParaRPr lang="en-US" sz="4000" dirty="0">
              <a:latin typeface="Times New Roman" panose="02020603050405020304" pitchFamily="18" charset="0"/>
              <a:cs typeface="Times New Roman" panose="02020603050405020304" pitchFamily="18" charset="0"/>
            </a:endParaRPr>
          </a:p>
        </p:txBody>
      </p:sp>
      <p:sp>
        <p:nvSpPr>
          <p:cNvPr id="4" name="Arrow: Pentagon 3">
            <a:extLst>
              <a:ext uri="{FF2B5EF4-FFF2-40B4-BE49-F238E27FC236}">
                <a16:creationId xmlns:a16="http://schemas.microsoft.com/office/drawing/2014/main" id="{EDD180CA-60ED-B5FC-0787-9FB88A682FB9}"/>
              </a:ext>
            </a:extLst>
          </p:cNvPr>
          <p:cNvSpPr/>
          <p:nvPr/>
        </p:nvSpPr>
        <p:spPr>
          <a:xfrm rot="5400000">
            <a:off x="-3245862" y="3726442"/>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76087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DAFDE-34DF-B6AD-3A98-2C1C51DBB470}"/>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11A45601-BD9A-081F-28A9-EB9722B6030B}"/>
              </a:ext>
            </a:extLst>
          </p:cNvPr>
          <p:cNvSpPr/>
          <p:nvPr/>
        </p:nvSpPr>
        <p:spPr>
          <a:xfrm>
            <a:off x="11311046" y="789098"/>
            <a:ext cx="423497" cy="479205"/>
          </a:xfrm>
          <a:custGeom>
            <a:avLst/>
            <a:gdLst/>
            <a:ahLst/>
            <a:cxnLst/>
            <a:rect l="l" t="t" r="r" b="b"/>
            <a:pathLst>
              <a:path w="423497" h="479205">
                <a:moveTo>
                  <a:pt x="0" y="0"/>
                </a:moveTo>
                <a:lnTo>
                  <a:pt x="423497" y="0"/>
                </a:lnTo>
                <a:lnTo>
                  <a:pt x="423497" y="479204"/>
                </a:lnTo>
                <a:lnTo>
                  <a:pt x="0" y="4792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6" name="TextBox 6">
            <a:extLst>
              <a:ext uri="{FF2B5EF4-FFF2-40B4-BE49-F238E27FC236}">
                <a16:creationId xmlns:a16="http://schemas.microsoft.com/office/drawing/2014/main" id="{23E087FE-EA37-C9F6-3FB6-E9EAA98A7F3C}"/>
              </a:ext>
            </a:extLst>
          </p:cNvPr>
          <p:cNvSpPr txBox="1"/>
          <p:nvPr/>
        </p:nvSpPr>
        <p:spPr>
          <a:xfrm>
            <a:off x="1147191" y="880974"/>
            <a:ext cx="2628794"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BorcellE UNIVERSITY</a:t>
            </a:r>
          </a:p>
        </p:txBody>
      </p:sp>
      <p:sp>
        <p:nvSpPr>
          <p:cNvPr id="7" name="TextBox 7">
            <a:extLst>
              <a:ext uri="{FF2B5EF4-FFF2-40B4-BE49-F238E27FC236}">
                <a16:creationId xmlns:a16="http://schemas.microsoft.com/office/drawing/2014/main" id="{519D0B41-FC4C-CD6C-8578-2167AE49AF76}"/>
              </a:ext>
            </a:extLst>
          </p:cNvPr>
          <p:cNvSpPr txBox="1"/>
          <p:nvPr/>
        </p:nvSpPr>
        <p:spPr>
          <a:xfrm>
            <a:off x="12120038" y="880974"/>
            <a:ext cx="76416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HOME</a:t>
            </a:r>
          </a:p>
        </p:txBody>
      </p:sp>
      <p:sp>
        <p:nvSpPr>
          <p:cNvPr id="8" name="TextBox 8">
            <a:extLst>
              <a:ext uri="{FF2B5EF4-FFF2-40B4-BE49-F238E27FC236}">
                <a16:creationId xmlns:a16="http://schemas.microsoft.com/office/drawing/2014/main" id="{DD18B78D-4A13-B49D-4040-48280EBF260A}"/>
              </a:ext>
            </a:extLst>
          </p:cNvPr>
          <p:cNvSpPr txBox="1"/>
          <p:nvPr/>
        </p:nvSpPr>
        <p:spPr>
          <a:xfrm>
            <a:off x="13236623" y="880974"/>
            <a:ext cx="764161" cy="277407"/>
          </a:xfrm>
          <a:prstGeom prst="rect">
            <a:avLst/>
          </a:prstGeom>
        </p:spPr>
        <p:txBody>
          <a:bodyPr lIns="0" tIns="0" rIns="0" bIns="0" rtlCol="0" anchor="t">
            <a:spAutoFit/>
          </a:bodyPr>
          <a:lstStyle/>
          <a:p>
            <a:pPr algn="l">
              <a:lnSpc>
                <a:spcPts val="2171"/>
              </a:lnSpc>
            </a:pPr>
            <a:r>
              <a:rPr lang="en-US" sz="1817" b="1" u="sng" spc="-75">
                <a:solidFill>
                  <a:srgbClr val="FFFFFF"/>
                </a:solidFill>
                <a:latin typeface="Roboto Bold"/>
                <a:ea typeface="Roboto Bold"/>
                <a:cs typeface="Roboto Bold"/>
                <a:sym typeface="Roboto Bold"/>
              </a:rPr>
              <a:t>ABOUT</a:t>
            </a:r>
          </a:p>
        </p:txBody>
      </p:sp>
      <p:sp>
        <p:nvSpPr>
          <p:cNvPr id="9" name="TextBox 9">
            <a:extLst>
              <a:ext uri="{FF2B5EF4-FFF2-40B4-BE49-F238E27FC236}">
                <a16:creationId xmlns:a16="http://schemas.microsoft.com/office/drawing/2014/main" id="{FB188677-0CD7-EF16-AE20-C7350A344711}"/>
              </a:ext>
            </a:extLst>
          </p:cNvPr>
          <p:cNvSpPr txBox="1"/>
          <p:nvPr/>
        </p:nvSpPr>
        <p:spPr>
          <a:xfrm>
            <a:off x="14353209" y="880974"/>
            <a:ext cx="100038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RESULT</a:t>
            </a:r>
          </a:p>
        </p:txBody>
      </p:sp>
      <p:sp>
        <p:nvSpPr>
          <p:cNvPr id="10" name="TextBox 10">
            <a:extLst>
              <a:ext uri="{FF2B5EF4-FFF2-40B4-BE49-F238E27FC236}">
                <a16:creationId xmlns:a16="http://schemas.microsoft.com/office/drawing/2014/main" id="{87C88715-78B2-6C14-052D-39D1C5B3A9EF}"/>
              </a:ext>
            </a:extLst>
          </p:cNvPr>
          <p:cNvSpPr txBox="1"/>
          <p:nvPr/>
        </p:nvSpPr>
        <p:spPr>
          <a:xfrm>
            <a:off x="15575531" y="880974"/>
            <a:ext cx="143472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CONCLUSION</a:t>
            </a:r>
          </a:p>
        </p:txBody>
      </p:sp>
      <p:sp>
        <p:nvSpPr>
          <p:cNvPr id="13" name="TextBox 12">
            <a:extLst>
              <a:ext uri="{FF2B5EF4-FFF2-40B4-BE49-F238E27FC236}">
                <a16:creationId xmlns:a16="http://schemas.microsoft.com/office/drawing/2014/main" id="{7AC5F3D4-BF7D-3328-6838-EF3E09EA722A}"/>
              </a:ext>
            </a:extLst>
          </p:cNvPr>
          <p:cNvSpPr txBox="1"/>
          <p:nvPr/>
        </p:nvSpPr>
        <p:spPr>
          <a:xfrm>
            <a:off x="2309188" y="395827"/>
            <a:ext cx="15978812" cy="8710077"/>
          </a:xfrm>
          <a:prstGeom prst="rect">
            <a:avLst/>
          </a:prstGeom>
          <a:noFill/>
        </p:spPr>
        <p:txBody>
          <a:bodyPr wrap="square" rtlCol="0">
            <a:spAutoFit/>
          </a:bodyPr>
          <a:lstStyle/>
          <a:p>
            <a:pPr marL="685800" indent="-685800" algn="just">
              <a:buFont typeface="Arial" panose="020B0604020202020204" pitchFamily="34" charset="0"/>
              <a:buChar char="•"/>
            </a:pPr>
            <a:r>
              <a:rPr lang="en-PH" sz="4000" dirty="0">
                <a:latin typeface="Times New Roman" panose="02020603050405020304" pitchFamily="18" charset="0"/>
                <a:cs typeface="Times New Roman" panose="02020603050405020304" pitchFamily="18" charset="0"/>
              </a:rPr>
              <a:t>Namey et al. (2021) conducted a quasi-experimental study on medical risk during pregnancy, comparing focus groups and individual interviews conducted in-person, through online video, through synchronous online chat, and through asynchronous online message boards, with 171 participants assigned across the four formats. Disclosure of sensitive information did not differ significantly between the formats, but chat and message board focus groups surfaced more disagreement than in-person and video groups, and participants in the video focus groups felt notably less at ease and connected than those in the other formats. This supports the idea that the channel through which student-researchers communicate with participants can shape both the quality and comfort of the information gathered, which is directly relevant to how student-researchers here choose between face-to-face, chat, or online communication with their own respondents.</a:t>
            </a:r>
            <a:endParaRPr lang="en-US" sz="4000" dirty="0">
              <a:latin typeface="Times New Roman" panose="02020603050405020304" pitchFamily="18" charset="0"/>
              <a:cs typeface="Times New Roman" panose="02020603050405020304" pitchFamily="18" charset="0"/>
            </a:endParaRPr>
          </a:p>
        </p:txBody>
      </p:sp>
      <p:sp>
        <p:nvSpPr>
          <p:cNvPr id="4" name="Arrow: Pentagon 3">
            <a:extLst>
              <a:ext uri="{FF2B5EF4-FFF2-40B4-BE49-F238E27FC236}">
                <a16:creationId xmlns:a16="http://schemas.microsoft.com/office/drawing/2014/main" id="{31B32593-DE4A-932E-3F0D-5B47A2AEF2CF}"/>
              </a:ext>
            </a:extLst>
          </p:cNvPr>
          <p:cNvSpPr/>
          <p:nvPr/>
        </p:nvSpPr>
        <p:spPr>
          <a:xfrm rot="5400000">
            <a:off x="-3245862" y="3726442"/>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64133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D4205-896A-9FF3-32EC-91CE2B063F8E}"/>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9FB2AB39-61BA-19CB-34B5-292D5EC0D4DF}"/>
              </a:ext>
            </a:extLst>
          </p:cNvPr>
          <p:cNvSpPr/>
          <p:nvPr/>
        </p:nvSpPr>
        <p:spPr>
          <a:xfrm>
            <a:off x="11311046" y="789098"/>
            <a:ext cx="423497" cy="479205"/>
          </a:xfrm>
          <a:custGeom>
            <a:avLst/>
            <a:gdLst/>
            <a:ahLst/>
            <a:cxnLst/>
            <a:rect l="l" t="t" r="r" b="b"/>
            <a:pathLst>
              <a:path w="423497" h="479205">
                <a:moveTo>
                  <a:pt x="0" y="0"/>
                </a:moveTo>
                <a:lnTo>
                  <a:pt x="423497" y="0"/>
                </a:lnTo>
                <a:lnTo>
                  <a:pt x="423497" y="479204"/>
                </a:lnTo>
                <a:lnTo>
                  <a:pt x="0" y="4792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6" name="TextBox 6">
            <a:extLst>
              <a:ext uri="{FF2B5EF4-FFF2-40B4-BE49-F238E27FC236}">
                <a16:creationId xmlns:a16="http://schemas.microsoft.com/office/drawing/2014/main" id="{BE9F2E3D-8703-BA43-89AF-5ECF0AF91182}"/>
              </a:ext>
            </a:extLst>
          </p:cNvPr>
          <p:cNvSpPr txBox="1"/>
          <p:nvPr/>
        </p:nvSpPr>
        <p:spPr>
          <a:xfrm>
            <a:off x="1147191" y="880974"/>
            <a:ext cx="2628794"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BorcellE UNIVERSITY</a:t>
            </a:r>
          </a:p>
        </p:txBody>
      </p:sp>
      <p:sp>
        <p:nvSpPr>
          <p:cNvPr id="7" name="TextBox 7">
            <a:extLst>
              <a:ext uri="{FF2B5EF4-FFF2-40B4-BE49-F238E27FC236}">
                <a16:creationId xmlns:a16="http://schemas.microsoft.com/office/drawing/2014/main" id="{AC5E5449-56A3-BCC2-14B3-E1521D45DF60}"/>
              </a:ext>
            </a:extLst>
          </p:cNvPr>
          <p:cNvSpPr txBox="1"/>
          <p:nvPr/>
        </p:nvSpPr>
        <p:spPr>
          <a:xfrm>
            <a:off x="12120038" y="880974"/>
            <a:ext cx="76416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HOME</a:t>
            </a:r>
          </a:p>
        </p:txBody>
      </p:sp>
      <p:sp>
        <p:nvSpPr>
          <p:cNvPr id="8" name="TextBox 8">
            <a:extLst>
              <a:ext uri="{FF2B5EF4-FFF2-40B4-BE49-F238E27FC236}">
                <a16:creationId xmlns:a16="http://schemas.microsoft.com/office/drawing/2014/main" id="{0BB3EEE0-E081-F0CF-1E18-B7DFFE4488A8}"/>
              </a:ext>
            </a:extLst>
          </p:cNvPr>
          <p:cNvSpPr txBox="1"/>
          <p:nvPr/>
        </p:nvSpPr>
        <p:spPr>
          <a:xfrm>
            <a:off x="13236623" y="880974"/>
            <a:ext cx="764161" cy="277407"/>
          </a:xfrm>
          <a:prstGeom prst="rect">
            <a:avLst/>
          </a:prstGeom>
        </p:spPr>
        <p:txBody>
          <a:bodyPr lIns="0" tIns="0" rIns="0" bIns="0" rtlCol="0" anchor="t">
            <a:spAutoFit/>
          </a:bodyPr>
          <a:lstStyle/>
          <a:p>
            <a:pPr algn="l">
              <a:lnSpc>
                <a:spcPts val="2171"/>
              </a:lnSpc>
            </a:pPr>
            <a:r>
              <a:rPr lang="en-US" sz="1817" b="1" u="sng" spc="-75">
                <a:solidFill>
                  <a:srgbClr val="FFFFFF"/>
                </a:solidFill>
                <a:latin typeface="Roboto Bold"/>
                <a:ea typeface="Roboto Bold"/>
                <a:cs typeface="Roboto Bold"/>
                <a:sym typeface="Roboto Bold"/>
              </a:rPr>
              <a:t>ABOUT</a:t>
            </a:r>
          </a:p>
        </p:txBody>
      </p:sp>
      <p:sp>
        <p:nvSpPr>
          <p:cNvPr id="9" name="TextBox 9">
            <a:extLst>
              <a:ext uri="{FF2B5EF4-FFF2-40B4-BE49-F238E27FC236}">
                <a16:creationId xmlns:a16="http://schemas.microsoft.com/office/drawing/2014/main" id="{8C445131-0E97-A3A6-3EAC-0347DB1397BF}"/>
              </a:ext>
            </a:extLst>
          </p:cNvPr>
          <p:cNvSpPr txBox="1"/>
          <p:nvPr/>
        </p:nvSpPr>
        <p:spPr>
          <a:xfrm>
            <a:off x="14353209" y="880974"/>
            <a:ext cx="100038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RESULT</a:t>
            </a:r>
          </a:p>
        </p:txBody>
      </p:sp>
      <p:sp>
        <p:nvSpPr>
          <p:cNvPr id="10" name="TextBox 10">
            <a:extLst>
              <a:ext uri="{FF2B5EF4-FFF2-40B4-BE49-F238E27FC236}">
                <a16:creationId xmlns:a16="http://schemas.microsoft.com/office/drawing/2014/main" id="{87EF0C6B-1958-E7B2-F95D-396E3FB62FAB}"/>
              </a:ext>
            </a:extLst>
          </p:cNvPr>
          <p:cNvSpPr txBox="1"/>
          <p:nvPr/>
        </p:nvSpPr>
        <p:spPr>
          <a:xfrm>
            <a:off x="15575531" y="880974"/>
            <a:ext cx="143472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CONCLUSION</a:t>
            </a:r>
          </a:p>
        </p:txBody>
      </p:sp>
      <p:sp>
        <p:nvSpPr>
          <p:cNvPr id="5" name="TextBox 4">
            <a:extLst>
              <a:ext uri="{FF2B5EF4-FFF2-40B4-BE49-F238E27FC236}">
                <a16:creationId xmlns:a16="http://schemas.microsoft.com/office/drawing/2014/main" id="{D0E1CF17-948C-1D40-0508-9DC35361CED5}"/>
              </a:ext>
            </a:extLst>
          </p:cNvPr>
          <p:cNvSpPr txBox="1"/>
          <p:nvPr/>
        </p:nvSpPr>
        <p:spPr>
          <a:xfrm>
            <a:off x="3571329" y="289788"/>
            <a:ext cx="13601564" cy="1015663"/>
          </a:xfrm>
          <a:prstGeom prst="rect">
            <a:avLst/>
          </a:prstGeom>
          <a:noFill/>
        </p:spPr>
        <p:txBody>
          <a:bodyPr wrap="square" rtlCol="0">
            <a:spAutoFit/>
          </a:bodyPr>
          <a:lstStyle/>
          <a:p>
            <a:r>
              <a:rPr lang="en-PH" sz="6000" dirty="0">
                <a:solidFill>
                  <a:srgbClr val="FF0000"/>
                </a:solidFill>
                <a:latin typeface="Times New Roman" panose="02020603050405020304" pitchFamily="18" charset="0"/>
                <a:cs typeface="Times New Roman" panose="02020603050405020304" pitchFamily="18" charset="0"/>
              </a:rPr>
              <a:t>Summary of Preliminary </a:t>
            </a:r>
            <a:r>
              <a:rPr lang="en-PH" sz="6000">
                <a:solidFill>
                  <a:srgbClr val="FF0000"/>
                </a:solidFill>
                <a:latin typeface="Times New Roman" panose="02020603050405020304" pitchFamily="18" charset="0"/>
                <a:cs typeface="Times New Roman" panose="02020603050405020304" pitchFamily="18" charset="0"/>
              </a:rPr>
              <a:t>Survey Results</a:t>
            </a:r>
            <a:endParaRPr lang="en-US" sz="6000" dirty="0">
              <a:solidFill>
                <a:srgbClr val="FF000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7F00576-8415-A71C-8765-45FBD38D075D}"/>
              </a:ext>
            </a:extLst>
          </p:cNvPr>
          <p:cNvSpPr txBox="1"/>
          <p:nvPr/>
        </p:nvSpPr>
        <p:spPr>
          <a:xfrm>
            <a:off x="2777927" y="1502579"/>
            <a:ext cx="14599622" cy="6247864"/>
          </a:xfrm>
          <a:prstGeom prst="rect">
            <a:avLst/>
          </a:prstGeom>
          <a:noFill/>
        </p:spPr>
        <p:txBody>
          <a:bodyPr wrap="square" rtlCol="0">
            <a:spAutoFit/>
          </a:bodyPr>
          <a:lstStyle/>
          <a:p>
            <a:r>
              <a:rPr lang="en-PH" sz="4000" b="1" dirty="0">
                <a:latin typeface="Times New Roman" panose="02020603050405020304" pitchFamily="18" charset="0"/>
                <a:cs typeface="Times New Roman" panose="02020603050405020304" pitchFamily="18" charset="0"/>
              </a:rPr>
              <a:t>Demographics</a:t>
            </a:r>
          </a:p>
          <a:p>
            <a:endParaRPr lang="en-PH" sz="4000" dirty="0">
              <a:latin typeface="Times New Roman" panose="02020603050405020304" pitchFamily="18" charset="0"/>
              <a:cs typeface="Times New Roman" panose="02020603050405020304" pitchFamily="18" charset="0"/>
            </a:endParaRPr>
          </a:p>
          <a:p>
            <a:r>
              <a:rPr lang="en-PH" sz="4000" b="1" dirty="0">
                <a:latin typeface="Times New Roman" panose="02020603050405020304" pitchFamily="18" charset="0"/>
                <a:cs typeface="Times New Roman" panose="02020603050405020304" pitchFamily="18" charset="0"/>
              </a:rPr>
              <a:t>Grade 12 Strand and Section</a:t>
            </a:r>
          </a:p>
          <a:p>
            <a:pPr marL="571500" lvl="0" indent="-571500">
              <a:buFont typeface="Arial" panose="020B0604020202020204" pitchFamily="34" charset="0"/>
              <a:buChar char="•"/>
            </a:pPr>
            <a:r>
              <a:rPr lang="en-PH" sz="4000" dirty="0">
                <a:latin typeface="Times New Roman" panose="02020603050405020304" pitchFamily="18" charset="0"/>
                <a:cs typeface="Times New Roman" panose="02020603050405020304" pitchFamily="18" charset="0"/>
              </a:rPr>
              <a:t>12-ABM Pisces: 13 (28.3%)</a:t>
            </a:r>
          </a:p>
          <a:p>
            <a:pPr marL="571500" lvl="0" indent="-571500">
              <a:buFont typeface="Arial" panose="020B0604020202020204" pitchFamily="34" charset="0"/>
              <a:buChar char="•"/>
            </a:pPr>
            <a:r>
              <a:rPr lang="en-PH" sz="4000" dirty="0">
                <a:latin typeface="Times New Roman" panose="02020603050405020304" pitchFamily="18" charset="0"/>
                <a:cs typeface="Times New Roman" panose="02020603050405020304" pitchFamily="18" charset="0"/>
              </a:rPr>
              <a:t>12-STEM Taurus: 11 (23.9%)</a:t>
            </a:r>
          </a:p>
          <a:p>
            <a:pPr marL="571500" lvl="0" indent="-571500">
              <a:buFont typeface="Arial" panose="020B0604020202020204" pitchFamily="34" charset="0"/>
              <a:buChar char="•"/>
            </a:pPr>
            <a:r>
              <a:rPr lang="en-PH" sz="4000" dirty="0">
                <a:latin typeface="Times New Roman" panose="02020603050405020304" pitchFamily="18" charset="0"/>
                <a:cs typeface="Times New Roman" panose="02020603050405020304" pitchFamily="18" charset="0"/>
              </a:rPr>
              <a:t>12-HUMSS Sagittarius: 11 (23.9%)</a:t>
            </a:r>
          </a:p>
          <a:p>
            <a:pPr marL="571500" lvl="0" indent="-571500">
              <a:buFont typeface="Arial" panose="020B0604020202020204" pitchFamily="34" charset="0"/>
              <a:buChar char="•"/>
            </a:pPr>
            <a:r>
              <a:rPr lang="en-PH" sz="4000" dirty="0">
                <a:latin typeface="Times New Roman" panose="02020603050405020304" pitchFamily="18" charset="0"/>
                <a:cs typeface="Times New Roman" panose="02020603050405020304" pitchFamily="18" charset="0"/>
              </a:rPr>
              <a:t>12-STEM Virgo: 9 (19.6%)</a:t>
            </a:r>
          </a:p>
          <a:p>
            <a:pPr marL="571500" lvl="0" indent="-571500">
              <a:buFont typeface="Arial" panose="020B0604020202020204" pitchFamily="34" charset="0"/>
              <a:buChar char="•"/>
            </a:pPr>
            <a:r>
              <a:rPr lang="en-PH" sz="4000" dirty="0">
                <a:latin typeface="Times New Roman" panose="02020603050405020304" pitchFamily="18" charset="0"/>
                <a:cs typeface="Times New Roman" panose="02020603050405020304" pitchFamily="18" charset="0"/>
              </a:rPr>
              <a:t>12-ICT Sagittarius: 2 (4.3%)</a:t>
            </a:r>
          </a:p>
          <a:p>
            <a:pPr lvl="0"/>
            <a:endParaRPr lang="en-PH" sz="4000" dirty="0">
              <a:latin typeface="Times New Roman" panose="02020603050405020304" pitchFamily="18" charset="0"/>
              <a:cs typeface="Times New Roman" panose="02020603050405020304" pitchFamily="18" charset="0"/>
            </a:endParaRPr>
          </a:p>
          <a:p>
            <a:r>
              <a:rPr lang="en-PH" sz="4000" dirty="0">
                <a:latin typeface="Times New Roman" panose="02020603050405020304" pitchFamily="18" charset="0"/>
                <a:cs typeface="Times New Roman" panose="02020603050405020304" pitchFamily="18" charset="0"/>
              </a:rPr>
              <a:t>Total Number of Students: 46</a:t>
            </a:r>
          </a:p>
        </p:txBody>
      </p:sp>
      <p:sp>
        <p:nvSpPr>
          <p:cNvPr id="4" name="Arrow: Pentagon 3">
            <a:extLst>
              <a:ext uri="{FF2B5EF4-FFF2-40B4-BE49-F238E27FC236}">
                <a16:creationId xmlns:a16="http://schemas.microsoft.com/office/drawing/2014/main" id="{39340FFF-4082-4858-F224-D1748E515A8D}"/>
              </a:ext>
            </a:extLst>
          </p:cNvPr>
          <p:cNvSpPr/>
          <p:nvPr/>
        </p:nvSpPr>
        <p:spPr>
          <a:xfrm rot="5400000">
            <a:off x="-3245862" y="3726442"/>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8495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19EF6-73A3-D5CB-0B5D-5E81AB50F9FB}"/>
            </a:ext>
          </a:extLst>
        </p:cNvPr>
        <p:cNvGrpSpPr/>
        <p:nvPr/>
      </p:nvGrpSpPr>
      <p:grpSpPr>
        <a:xfrm>
          <a:off x="0" y="0"/>
          <a:ext cx="0" cy="0"/>
          <a:chOff x="0" y="0"/>
          <a:chExt cx="0" cy="0"/>
        </a:xfrm>
      </p:grpSpPr>
      <p:sp>
        <p:nvSpPr>
          <p:cNvPr id="3" name="Arrow: Pentagon 2">
            <a:extLst>
              <a:ext uri="{FF2B5EF4-FFF2-40B4-BE49-F238E27FC236}">
                <a16:creationId xmlns:a16="http://schemas.microsoft.com/office/drawing/2014/main" id="{F894338B-B2CC-382C-37E0-51C33035D7C7}"/>
              </a:ext>
            </a:extLst>
          </p:cNvPr>
          <p:cNvSpPr/>
          <p:nvPr/>
        </p:nvSpPr>
        <p:spPr>
          <a:xfrm rot="5400000">
            <a:off x="-3245862" y="3726442"/>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6751A7BD-CAB6-2FB0-ADF2-6BDFAC691F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0400" y="149626"/>
            <a:ext cx="12039601" cy="8841003"/>
          </a:xfrm>
          <a:prstGeom prst="rect">
            <a:avLst/>
          </a:prstGeom>
        </p:spPr>
      </p:pic>
    </p:spTree>
    <p:extLst>
      <p:ext uri="{BB962C8B-B14F-4D97-AF65-F5344CB8AC3E}">
        <p14:creationId xmlns:p14="http://schemas.microsoft.com/office/powerpoint/2010/main" val="4018032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rrow: Pentagon 2">
            <a:extLst>
              <a:ext uri="{FF2B5EF4-FFF2-40B4-BE49-F238E27FC236}">
                <a16:creationId xmlns:a16="http://schemas.microsoft.com/office/drawing/2014/main" id="{42C4F979-AFF8-D761-66E6-1F3EA5A80ADC}"/>
              </a:ext>
            </a:extLst>
          </p:cNvPr>
          <p:cNvSpPr/>
          <p:nvPr/>
        </p:nvSpPr>
        <p:spPr>
          <a:xfrm rot="5400000">
            <a:off x="-3245862" y="3726442"/>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73B177ED-E72F-CFE2-3756-187F5C603789}"/>
              </a:ext>
            </a:extLst>
          </p:cNvPr>
          <p:cNvPicPr>
            <a:picLocks noChangeAspect="1"/>
          </p:cNvPicPr>
          <p:nvPr/>
        </p:nvPicPr>
        <p:blipFill>
          <a:blip r:embed="rId2"/>
          <a:stretch>
            <a:fillRect/>
          </a:stretch>
        </p:blipFill>
        <p:spPr>
          <a:xfrm>
            <a:off x="2480032" y="0"/>
            <a:ext cx="13327935" cy="8842479"/>
          </a:xfrm>
          <a:prstGeom prst="rect">
            <a:avLst/>
          </a:prstGeom>
        </p:spPr>
      </p:pic>
    </p:spTree>
    <p:extLst>
      <p:ext uri="{BB962C8B-B14F-4D97-AF65-F5344CB8AC3E}">
        <p14:creationId xmlns:p14="http://schemas.microsoft.com/office/powerpoint/2010/main" val="4137131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10777-DC77-E744-FE7E-441072A98EDA}"/>
            </a:ext>
          </a:extLst>
        </p:cNvPr>
        <p:cNvGrpSpPr/>
        <p:nvPr/>
      </p:nvGrpSpPr>
      <p:grpSpPr>
        <a:xfrm>
          <a:off x="0" y="0"/>
          <a:ext cx="0" cy="0"/>
          <a:chOff x="0" y="0"/>
          <a:chExt cx="0" cy="0"/>
        </a:xfrm>
      </p:grpSpPr>
      <p:sp>
        <p:nvSpPr>
          <p:cNvPr id="3" name="Arrow: Pentagon 2">
            <a:extLst>
              <a:ext uri="{FF2B5EF4-FFF2-40B4-BE49-F238E27FC236}">
                <a16:creationId xmlns:a16="http://schemas.microsoft.com/office/drawing/2014/main" id="{500F46DF-644A-6262-59A7-B8D9C0A06A93}"/>
              </a:ext>
            </a:extLst>
          </p:cNvPr>
          <p:cNvSpPr/>
          <p:nvPr/>
        </p:nvSpPr>
        <p:spPr>
          <a:xfrm rot="5400000">
            <a:off x="-3245862" y="3726442"/>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7C74F009-8EA5-AC2A-E536-5D347DE656D9}"/>
              </a:ext>
            </a:extLst>
          </p:cNvPr>
          <p:cNvPicPr>
            <a:picLocks noChangeAspect="1"/>
          </p:cNvPicPr>
          <p:nvPr/>
        </p:nvPicPr>
        <p:blipFill>
          <a:blip r:embed="rId2"/>
          <a:stretch>
            <a:fillRect/>
          </a:stretch>
        </p:blipFill>
        <p:spPr>
          <a:xfrm>
            <a:off x="2540391" y="52132"/>
            <a:ext cx="13207218" cy="8919504"/>
          </a:xfrm>
          <a:prstGeom prst="rect">
            <a:avLst/>
          </a:prstGeom>
        </p:spPr>
      </p:pic>
    </p:spTree>
    <p:extLst>
      <p:ext uri="{BB962C8B-B14F-4D97-AF65-F5344CB8AC3E}">
        <p14:creationId xmlns:p14="http://schemas.microsoft.com/office/powerpoint/2010/main" val="2965693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56936-4CEC-57E9-7664-F7750B68C966}"/>
            </a:ext>
          </a:extLst>
        </p:cNvPr>
        <p:cNvGrpSpPr/>
        <p:nvPr/>
      </p:nvGrpSpPr>
      <p:grpSpPr>
        <a:xfrm>
          <a:off x="0" y="0"/>
          <a:ext cx="0" cy="0"/>
          <a:chOff x="0" y="0"/>
          <a:chExt cx="0" cy="0"/>
        </a:xfrm>
      </p:grpSpPr>
      <p:sp>
        <p:nvSpPr>
          <p:cNvPr id="3" name="Arrow: Pentagon 2">
            <a:extLst>
              <a:ext uri="{FF2B5EF4-FFF2-40B4-BE49-F238E27FC236}">
                <a16:creationId xmlns:a16="http://schemas.microsoft.com/office/drawing/2014/main" id="{755CEC63-D1B2-B3DA-DC0A-02C9B68A4423}"/>
              </a:ext>
            </a:extLst>
          </p:cNvPr>
          <p:cNvSpPr/>
          <p:nvPr/>
        </p:nvSpPr>
        <p:spPr>
          <a:xfrm rot="5400000">
            <a:off x="-3245862" y="3726442"/>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BE5B5072-16B4-2053-E4DE-D24B1E259917}"/>
              </a:ext>
            </a:extLst>
          </p:cNvPr>
          <p:cNvPicPr>
            <a:picLocks noChangeAspect="1"/>
          </p:cNvPicPr>
          <p:nvPr/>
        </p:nvPicPr>
        <p:blipFill>
          <a:blip r:embed="rId2"/>
          <a:stretch>
            <a:fillRect/>
          </a:stretch>
        </p:blipFill>
        <p:spPr>
          <a:xfrm>
            <a:off x="2543427" y="190500"/>
            <a:ext cx="13201146" cy="8915404"/>
          </a:xfrm>
          <a:prstGeom prst="rect">
            <a:avLst/>
          </a:prstGeom>
        </p:spPr>
      </p:pic>
    </p:spTree>
    <p:extLst>
      <p:ext uri="{BB962C8B-B14F-4D97-AF65-F5344CB8AC3E}">
        <p14:creationId xmlns:p14="http://schemas.microsoft.com/office/powerpoint/2010/main" val="3315848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2DBE6-842A-9183-DA89-054893409C13}"/>
            </a:ext>
          </a:extLst>
        </p:cNvPr>
        <p:cNvGrpSpPr/>
        <p:nvPr/>
      </p:nvGrpSpPr>
      <p:grpSpPr>
        <a:xfrm>
          <a:off x="0" y="0"/>
          <a:ext cx="0" cy="0"/>
          <a:chOff x="0" y="0"/>
          <a:chExt cx="0" cy="0"/>
        </a:xfrm>
      </p:grpSpPr>
      <p:sp>
        <p:nvSpPr>
          <p:cNvPr id="3" name="Arrow: Pentagon 2">
            <a:extLst>
              <a:ext uri="{FF2B5EF4-FFF2-40B4-BE49-F238E27FC236}">
                <a16:creationId xmlns:a16="http://schemas.microsoft.com/office/drawing/2014/main" id="{CB834F87-77EA-8A15-35EB-5B659D371FE1}"/>
              </a:ext>
            </a:extLst>
          </p:cNvPr>
          <p:cNvSpPr/>
          <p:nvPr/>
        </p:nvSpPr>
        <p:spPr>
          <a:xfrm rot="5400000">
            <a:off x="-3245862" y="3726442"/>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6C94AF64-B84C-8B72-C9FF-D08E7F40B33A}"/>
              </a:ext>
            </a:extLst>
          </p:cNvPr>
          <p:cNvPicPr>
            <a:picLocks noChangeAspect="1"/>
          </p:cNvPicPr>
          <p:nvPr/>
        </p:nvPicPr>
        <p:blipFill>
          <a:blip r:embed="rId2"/>
          <a:stretch>
            <a:fillRect/>
          </a:stretch>
        </p:blipFill>
        <p:spPr>
          <a:xfrm>
            <a:off x="2427821" y="52132"/>
            <a:ext cx="13432358" cy="9071552"/>
          </a:xfrm>
          <a:prstGeom prst="rect">
            <a:avLst/>
          </a:prstGeom>
        </p:spPr>
      </p:pic>
    </p:spTree>
    <p:extLst>
      <p:ext uri="{BB962C8B-B14F-4D97-AF65-F5344CB8AC3E}">
        <p14:creationId xmlns:p14="http://schemas.microsoft.com/office/powerpoint/2010/main" val="1880499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B5812-7A2C-7352-F7B3-162FF7CFF5B8}"/>
            </a:ext>
          </a:extLst>
        </p:cNvPr>
        <p:cNvGrpSpPr/>
        <p:nvPr/>
      </p:nvGrpSpPr>
      <p:grpSpPr>
        <a:xfrm>
          <a:off x="0" y="0"/>
          <a:ext cx="0" cy="0"/>
          <a:chOff x="0" y="0"/>
          <a:chExt cx="0" cy="0"/>
        </a:xfrm>
      </p:grpSpPr>
      <p:sp>
        <p:nvSpPr>
          <p:cNvPr id="3" name="Arrow: Pentagon 2">
            <a:extLst>
              <a:ext uri="{FF2B5EF4-FFF2-40B4-BE49-F238E27FC236}">
                <a16:creationId xmlns:a16="http://schemas.microsoft.com/office/drawing/2014/main" id="{648F3425-CA71-7BA7-CC63-331B86B741B7}"/>
              </a:ext>
            </a:extLst>
          </p:cNvPr>
          <p:cNvSpPr/>
          <p:nvPr/>
        </p:nvSpPr>
        <p:spPr>
          <a:xfrm rot="5400000">
            <a:off x="-3245862" y="3726442"/>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A888E9E2-D5B9-43D5-D99B-7B583416C9A7}"/>
              </a:ext>
            </a:extLst>
          </p:cNvPr>
          <p:cNvPicPr>
            <a:picLocks noChangeAspect="1"/>
          </p:cNvPicPr>
          <p:nvPr/>
        </p:nvPicPr>
        <p:blipFill>
          <a:blip r:embed="rId2"/>
          <a:stretch>
            <a:fillRect/>
          </a:stretch>
        </p:blipFill>
        <p:spPr>
          <a:xfrm>
            <a:off x="2133600" y="0"/>
            <a:ext cx="13432357" cy="9071552"/>
          </a:xfrm>
          <a:prstGeom prst="rect">
            <a:avLst/>
          </a:prstGeom>
        </p:spPr>
      </p:pic>
    </p:spTree>
    <p:extLst>
      <p:ext uri="{BB962C8B-B14F-4D97-AF65-F5344CB8AC3E}">
        <p14:creationId xmlns:p14="http://schemas.microsoft.com/office/powerpoint/2010/main" val="1700314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4F995-A715-1FC4-DE50-9CB7C4D951DC}"/>
            </a:ext>
          </a:extLst>
        </p:cNvPr>
        <p:cNvGrpSpPr/>
        <p:nvPr/>
      </p:nvGrpSpPr>
      <p:grpSpPr>
        <a:xfrm>
          <a:off x="0" y="0"/>
          <a:ext cx="0" cy="0"/>
          <a:chOff x="0" y="0"/>
          <a:chExt cx="0" cy="0"/>
        </a:xfrm>
      </p:grpSpPr>
      <p:sp>
        <p:nvSpPr>
          <p:cNvPr id="3" name="Arrow: Pentagon 2">
            <a:extLst>
              <a:ext uri="{FF2B5EF4-FFF2-40B4-BE49-F238E27FC236}">
                <a16:creationId xmlns:a16="http://schemas.microsoft.com/office/drawing/2014/main" id="{5BBC85F2-51A1-0D75-A548-0ACA80BF5970}"/>
              </a:ext>
            </a:extLst>
          </p:cNvPr>
          <p:cNvSpPr/>
          <p:nvPr/>
        </p:nvSpPr>
        <p:spPr>
          <a:xfrm rot="5400000">
            <a:off x="-3245862" y="3726442"/>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7FD3ABB9-CFCA-722F-B946-75744F4B43F8}"/>
              </a:ext>
            </a:extLst>
          </p:cNvPr>
          <p:cNvPicPr>
            <a:picLocks noChangeAspect="1"/>
          </p:cNvPicPr>
          <p:nvPr/>
        </p:nvPicPr>
        <p:blipFill>
          <a:blip r:embed="rId3"/>
          <a:stretch>
            <a:fillRect/>
          </a:stretch>
        </p:blipFill>
        <p:spPr>
          <a:xfrm>
            <a:off x="2418626" y="24472"/>
            <a:ext cx="13450748" cy="9083972"/>
          </a:xfrm>
          <a:prstGeom prst="rect">
            <a:avLst/>
          </a:prstGeom>
        </p:spPr>
      </p:pic>
    </p:spTree>
    <p:extLst>
      <p:ext uri="{BB962C8B-B14F-4D97-AF65-F5344CB8AC3E}">
        <p14:creationId xmlns:p14="http://schemas.microsoft.com/office/powerpoint/2010/main" val="3350744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E8A19-E60B-75F9-4781-6EAC6505A278}"/>
            </a:ext>
          </a:extLst>
        </p:cNvPr>
        <p:cNvGrpSpPr/>
        <p:nvPr/>
      </p:nvGrpSpPr>
      <p:grpSpPr>
        <a:xfrm>
          <a:off x="0" y="0"/>
          <a:ext cx="0" cy="0"/>
          <a:chOff x="0" y="0"/>
          <a:chExt cx="0" cy="0"/>
        </a:xfrm>
      </p:grpSpPr>
      <p:sp>
        <p:nvSpPr>
          <p:cNvPr id="3" name="Arrow: Pentagon 2">
            <a:extLst>
              <a:ext uri="{FF2B5EF4-FFF2-40B4-BE49-F238E27FC236}">
                <a16:creationId xmlns:a16="http://schemas.microsoft.com/office/drawing/2014/main" id="{50F334F3-1040-6173-58E2-581432E890FE}"/>
              </a:ext>
            </a:extLst>
          </p:cNvPr>
          <p:cNvSpPr/>
          <p:nvPr/>
        </p:nvSpPr>
        <p:spPr>
          <a:xfrm rot="5400000">
            <a:off x="-3245862" y="3726442"/>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5726129F-E35D-A4BC-CAFB-EFC44317BC8D}"/>
              </a:ext>
            </a:extLst>
          </p:cNvPr>
          <p:cNvPicPr>
            <a:picLocks noChangeAspect="1"/>
          </p:cNvPicPr>
          <p:nvPr/>
        </p:nvPicPr>
        <p:blipFill>
          <a:blip r:embed="rId2"/>
          <a:stretch>
            <a:fillRect/>
          </a:stretch>
        </p:blipFill>
        <p:spPr>
          <a:xfrm>
            <a:off x="2133600" y="34352"/>
            <a:ext cx="13432358" cy="9071552"/>
          </a:xfrm>
          <a:prstGeom prst="rect">
            <a:avLst/>
          </a:prstGeom>
        </p:spPr>
      </p:pic>
    </p:spTree>
    <p:extLst>
      <p:ext uri="{BB962C8B-B14F-4D97-AF65-F5344CB8AC3E}">
        <p14:creationId xmlns:p14="http://schemas.microsoft.com/office/powerpoint/2010/main" val="1167279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179CE-9ED1-2C25-F79C-2BA92F59FECE}"/>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2D2CA872-BB74-061E-3385-346C120272B6}"/>
              </a:ext>
            </a:extLst>
          </p:cNvPr>
          <p:cNvSpPr/>
          <p:nvPr/>
        </p:nvSpPr>
        <p:spPr>
          <a:xfrm>
            <a:off x="11311046" y="789098"/>
            <a:ext cx="423497" cy="479205"/>
          </a:xfrm>
          <a:custGeom>
            <a:avLst/>
            <a:gdLst/>
            <a:ahLst/>
            <a:cxnLst/>
            <a:rect l="l" t="t" r="r" b="b"/>
            <a:pathLst>
              <a:path w="423497" h="479205">
                <a:moveTo>
                  <a:pt x="0" y="0"/>
                </a:moveTo>
                <a:lnTo>
                  <a:pt x="423497" y="0"/>
                </a:lnTo>
                <a:lnTo>
                  <a:pt x="423497" y="479204"/>
                </a:lnTo>
                <a:lnTo>
                  <a:pt x="0" y="4792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6" name="TextBox 6">
            <a:extLst>
              <a:ext uri="{FF2B5EF4-FFF2-40B4-BE49-F238E27FC236}">
                <a16:creationId xmlns:a16="http://schemas.microsoft.com/office/drawing/2014/main" id="{ABC7DF6E-FBD2-684B-6E06-A24F8328A58B}"/>
              </a:ext>
            </a:extLst>
          </p:cNvPr>
          <p:cNvSpPr txBox="1"/>
          <p:nvPr/>
        </p:nvSpPr>
        <p:spPr>
          <a:xfrm>
            <a:off x="1147191" y="880974"/>
            <a:ext cx="2628794"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BorcellE UNIVERSITY</a:t>
            </a:r>
          </a:p>
        </p:txBody>
      </p:sp>
      <p:sp>
        <p:nvSpPr>
          <p:cNvPr id="7" name="TextBox 7">
            <a:extLst>
              <a:ext uri="{FF2B5EF4-FFF2-40B4-BE49-F238E27FC236}">
                <a16:creationId xmlns:a16="http://schemas.microsoft.com/office/drawing/2014/main" id="{0894C60C-3492-FF95-90ED-40F99350F4CC}"/>
              </a:ext>
            </a:extLst>
          </p:cNvPr>
          <p:cNvSpPr txBox="1"/>
          <p:nvPr/>
        </p:nvSpPr>
        <p:spPr>
          <a:xfrm>
            <a:off x="12120038" y="880974"/>
            <a:ext cx="76416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HOME</a:t>
            </a:r>
          </a:p>
        </p:txBody>
      </p:sp>
      <p:sp>
        <p:nvSpPr>
          <p:cNvPr id="8" name="TextBox 8">
            <a:extLst>
              <a:ext uri="{FF2B5EF4-FFF2-40B4-BE49-F238E27FC236}">
                <a16:creationId xmlns:a16="http://schemas.microsoft.com/office/drawing/2014/main" id="{E460E702-ED3F-7BC6-563D-584509D769EB}"/>
              </a:ext>
            </a:extLst>
          </p:cNvPr>
          <p:cNvSpPr txBox="1"/>
          <p:nvPr/>
        </p:nvSpPr>
        <p:spPr>
          <a:xfrm>
            <a:off x="13236623" y="880974"/>
            <a:ext cx="764161" cy="277407"/>
          </a:xfrm>
          <a:prstGeom prst="rect">
            <a:avLst/>
          </a:prstGeom>
        </p:spPr>
        <p:txBody>
          <a:bodyPr lIns="0" tIns="0" rIns="0" bIns="0" rtlCol="0" anchor="t">
            <a:spAutoFit/>
          </a:bodyPr>
          <a:lstStyle/>
          <a:p>
            <a:pPr algn="l">
              <a:lnSpc>
                <a:spcPts val="2171"/>
              </a:lnSpc>
            </a:pPr>
            <a:r>
              <a:rPr lang="en-US" sz="1817" b="1" u="sng" spc="-75">
                <a:solidFill>
                  <a:srgbClr val="FFFFFF"/>
                </a:solidFill>
                <a:latin typeface="Roboto Bold"/>
                <a:ea typeface="Roboto Bold"/>
                <a:cs typeface="Roboto Bold"/>
                <a:sym typeface="Roboto Bold"/>
              </a:rPr>
              <a:t>ABOUT</a:t>
            </a:r>
          </a:p>
        </p:txBody>
      </p:sp>
      <p:sp>
        <p:nvSpPr>
          <p:cNvPr id="9" name="TextBox 9">
            <a:extLst>
              <a:ext uri="{FF2B5EF4-FFF2-40B4-BE49-F238E27FC236}">
                <a16:creationId xmlns:a16="http://schemas.microsoft.com/office/drawing/2014/main" id="{E5A0DE20-390E-17B0-D010-61BAB4FEA282}"/>
              </a:ext>
            </a:extLst>
          </p:cNvPr>
          <p:cNvSpPr txBox="1"/>
          <p:nvPr/>
        </p:nvSpPr>
        <p:spPr>
          <a:xfrm>
            <a:off x="14353209" y="880974"/>
            <a:ext cx="100038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RESULT</a:t>
            </a:r>
          </a:p>
        </p:txBody>
      </p:sp>
      <p:sp>
        <p:nvSpPr>
          <p:cNvPr id="10" name="TextBox 10">
            <a:extLst>
              <a:ext uri="{FF2B5EF4-FFF2-40B4-BE49-F238E27FC236}">
                <a16:creationId xmlns:a16="http://schemas.microsoft.com/office/drawing/2014/main" id="{4267F7B8-E508-6B7B-EA96-1432AC21A1F5}"/>
              </a:ext>
            </a:extLst>
          </p:cNvPr>
          <p:cNvSpPr txBox="1"/>
          <p:nvPr/>
        </p:nvSpPr>
        <p:spPr>
          <a:xfrm>
            <a:off x="15575531" y="880974"/>
            <a:ext cx="143472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CONCLUSION</a:t>
            </a:r>
          </a:p>
        </p:txBody>
      </p:sp>
      <p:sp>
        <p:nvSpPr>
          <p:cNvPr id="5" name="TextBox 4">
            <a:extLst>
              <a:ext uri="{FF2B5EF4-FFF2-40B4-BE49-F238E27FC236}">
                <a16:creationId xmlns:a16="http://schemas.microsoft.com/office/drawing/2014/main" id="{001BA72A-2A56-83E1-5B5B-936F809B40AC}"/>
              </a:ext>
            </a:extLst>
          </p:cNvPr>
          <p:cNvSpPr txBox="1"/>
          <p:nvPr/>
        </p:nvSpPr>
        <p:spPr>
          <a:xfrm>
            <a:off x="3408688" y="650549"/>
            <a:ext cx="13601564" cy="1015663"/>
          </a:xfrm>
          <a:prstGeom prst="rect">
            <a:avLst/>
          </a:prstGeom>
          <a:noFill/>
        </p:spPr>
        <p:txBody>
          <a:bodyPr wrap="square" rtlCol="0">
            <a:spAutoFit/>
          </a:bodyPr>
          <a:lstStyle/>
          <a:p>
            <a:r>
              <a:rPr lang="en-PH" sz="6000" dirty="0">
                <a:solidFill>
                  <a:srgbClr val="FF0000"/>
                </a:solidFill>
                <a:latin typeface="Times New Roman" panose="02020603050405020304" pitchFamily="18" charset="0"/>
                <a:cs typeface="Times New Roman" panose="02020603050405020304" pitchFamily="18" charset="0"/>
              </a:rPr>
              <a:t>Summary of Preliminary Survey Results</a:t>
            </a:r>
            <a:endParaRPr lang="en-US" sz="6000" dirty="0">
              <a:solidFill>
                <a:srgbClr val="FF000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C752399A-FD52-7097-90D1-18979881FE70}"/>
              </a:ext>
            </a:extLst>
          </p:cNvPr>
          <p:cNvSpPr txBox="1"/>
          <p:nvPr/>
        </p:nvSpPr>
        <p:spPr>
          <a:xfrm>
            <a:off x="3046670" y="2307970"/>
            <a:ext cx="14325600" cy="4524315"/>
          </a:xfrm>
          <a:prstGeom prst="rect">
            <a:avLst/>
          </a:prstGeom>
          <a:noFill/>
        </p:spPr>
        <p:txBody>
          <a:bodyPr wrap="square" rtlCol="0">
            <a:spAutoFit/>
          </a:bodyPr>
          <a:lstStyle/>
          <a:p>
            <a:pPr algn="just"/>
            <a:r>
              <a:rPr lang="en-PH" sz="4800" dirty="0">
                <a:latin typeface="Times New Roman" panose="02020603050405020304" pitchFamily="18" charset="0"/>
                <a:cs typeface="Times New Roman" panose="02020603050405020304" pitchFamily="18" charset="0"/>
              </a:rPr>
              <a:t>Based on the forty-six Grade 12 respondents from LIFE Institute </a:t>
            </a:r>
            <a:r>
              <a:rPr lang="en-PH" sz="4800" dirty="0" err="1">
                <a:latin typeface="Times New Roman" panose="02020603050405020304" pitchFamily="18" charset="0"/>
                <a:cs typeface="Times New Roman" panose="02020603050405020304" pitchFamily="18" charset="0"/>
              </a:rPr>
              <a:t>Mariveles</a:t>
            </a:r>
            <a:r>
              <a:rPr lang="en-PH" sz="4800" dirty="0">
                <a:latin typeface="Times New Roman" panose="02020603050405020304" pitchFamily="18" charset="0"/>
                <a:cs typeface="Times New Roman" panose="02020603050405020304" pitchFamily="18" charset="0"/>
              </a:rPr>
              <a:t>, the findings indicate that most students communicate with research participants often or always and feel comfortable explaining their research. Most respondents also reported that fear or nervousness affects their communication only rarely or sometimes.</a:t>
            </a:r>
            <a:endParaRPr lang="en-PH" sz="4400" dirty="0">
              <a:latin typeface="Times New Roman" panose="02020603050405020304" pitchFamily="18" charset="0"/>
              <a:cs typeface="Times New Roman" panose="02020603050405020304" pitchFamily="18" charset="0"/>
            </a:endParaRPr>
          </a:p>
        </p:txBody>
      </p:sp>
      <p:sp>
        <p:nvSpPr>
          <p:cNvPr id="4" name="Arrow: Pentagon 3">
            <a:extLst>
              <a:ext uri="{FF2B5EF4-FFF2-40B4-BE49-F238E27FC236}">
                <a16:creationId xmlns:a16="http://schemas.microsoft.com/office/drawing/2014/main" id="{505E90B0-2DE3-E766-B3DE-06D6136D8D37}"/>
              </a:ext>
            </a:extLst>
          </p:cNvPr>
          <p:cNvSpPr/>
          <p:nvPr/>
        </p:nvSpPr>
        <p:spPr>
          <a:xfrm rot="5400000">
            <a:off x="-3245862" y="3726442"/>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02622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D25F2-1059-1988-6F8E-E68F16302035}"/>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B054CE73-A964-8CC3-F209-41080AF1C965}"/>
              </a:ext>
            </a:extLst>
          </p:cNvPr>
          <p:cNvSpPr/>
          <p:nvPr/>
        </p:nvSpPr>
        <p:spPr>
          <a:xfrm>
            <a:off x="11311046" y="789098"/>
            <a:ext cx="423497" cy="479205"/>
          </a:xfrm>
          <a:custGeom>
            <a:avLst/>
            <a:gdLst/>
            <a:ahLst/>
            <a:cxnLst/>
            <a:rect l="l" t="t" r="r" b="b"/>
            <a:pathLst>
              <a:path w="423497" h="479205">
                <a:moveTo>
                  <a:pt x="0" y="0"/>
                </a:moveTo>
                <a:lnTo>
                  <a:pt x="423497" y="0"/>
                </a:lnTo>
                <a:lnTo>
                  <a:pt x="423497" y="479204"/>
                </a:lnTo>
                <a:lnTo>
                  <a:pt x="0" y="4792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6" name="TextBox 6">
            <a:extLst>
              <a:ext uri="{FF2B5EF4-FFF2-40B4-BE49-F238E27FC236}">
                <a16:creationId xmlns:a16="http://schemas.microsoft.com/office/drawing/2014/main" id="{A7BB2899-3EAC-8B1C-C61E-7D199191EB7A}"/>
              </a:ext>
            </a:extLst>
          </p:cNvPr>
          <p:cNvSpPr txBox="1"/>
          <p:nvPr/>
        </p:nvSpPr>
        <p:spPr>
          <a:xfrm>
            <a:off x="1147191" y="880974"/>
            <a:ext cx="2628794"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BorcellE UNIVERSITY</a:t>
            </a:r>
          </a:p>
        </p:txBody>
      </p:sp>
      <p:sp>
        <p:nvSpPr>
          <p:cNvPr id="7" name="TextBox 7">
            <a:extLst>
              <a:ext uri="{FF2B5EF4-FFF2-40B4-BE49-F238E27FC236}">
                <a16:creationId xmlns:a16="http://schemas.microsoft.com/office/drawing/2014/main" id="{F2FE9879-403B-70E1-C4F7-F9B3FFDEDD30}"/>
              </a:ext>
            </a:extLst>
          </p:cNvPr>
          <p:cNvSpPr txBox="1"/>
          <p:nvPr/>
        </p:nvSpPr>
        <p:spPr>
          <a:xfrm>
            <a:off x="12120038" y="880974"/>
            <a:ext cx="76416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HOME</a:t>
            </a:r>
          </a:p>
        </p:txBody>
      </p:sp>
      <p:sp>
        <p:nvSpPr>
          <p:cNvPr id="8" name="TextBox 8">
            <a:extLst>
              <a:ext uri="{FF2B5EF4-FFF2-40B4-BE49-F238E27FC236}">
                <a16:creationId xmlns:a16="http://schemas.microsoft.com/office/drawing/2014/main" id="{23A8FFF4-5757-E59F-DDF5-802515D74FF0}"/>
              </a:ext>
            </a:extLst>
          </p:cNvPr>
          <p:cNvSpPr txBox="1"/>
          <p:nvPr/>
        </p:nvSpPr>
        <p:spPr>
          <a:xfrm>
            <a:off x="13236623" y="880974"/>
            <a:ext cx="764161" cy="277407"/>
          </a:xfrm>
          <a:prstGeom prst="rect">
            <a:avLst/>
          </a:prstGeom>
        </p:spPr>
        <p:txBody>
          <a:bodyPr lIns="0" tIns="0" rIns="0" bIns="0" rtlCol="0" anchor="t">
            <a:spAutoFit/>
          </a:bodyPr>
          <a:lstStyle/>
          <a:p>
            <a:pPr algn="l">
              <a:lnSpc>
                <a:spcPts val="2171"/>
              </a:lnSpc>
            </a:pPr>
            <a:r>
              <a:rPr lang="en-US" sz="1817" b="1" u="sng" spc="-75">
                <a:solidFill>
                  <a:srgbClr val="FFFFFF"/>
                </a:solidFill>
                <a:latin typeface="Roboto Bold"/>
                <a:ea typeface="Roboto Bold"/>
                <a:cs typeface="Roboto Bold"/>
                <a:sym typeface="Roboto Bold"/>
              </a:rPr>
              <a:t>ABOUT</a:t>
            </a:r>
          </a:p>
        </p:txBody>
      </p:sp>
      <p:sp>
        <p:nvSpPr>
          <p:cNvPr id="9" name="TextBox 9">
            <a:extLst>
              <a:ext uri="{FF2B5EF4-FFF2-40B4-BE49-F238E27FC236}">
                <a16:creationId xmlns:a16="http://schemas.microsoft.com/office/drawing/2014/main" id="{2C35792E-D004-702C-0C70-93FF022B0D89}"/>
              </a:ext>
            </a:extLst>
          </p:cNvPr>
          <p:cNvSpPr txBox="1"/>
          <p:nvPr/>
        </p:nvSpPr>
        <p:spPr>
          <a:xfrm>
            <a:off x="14353209" y="880974"/>
            <a:ext cx="100038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RESULT</a:t>
            </a:r>
          </a:p>
        </p:txBody>
      </p:sp>
      <p:sp>
        <p:nvSpPr>
          <p:cNvPr id="10" name="TextBox 10">
            <a:extLst>
              <a:ext uri="{FF2B5EF4-FFF2-40B4-BE49-F238E27FC236}">
                <a16:creationId xmlns:a16="http://schemas.microsoft.com/office/drawing/2014/main" id="{75A03647-FE86-2F93-E5B8-D933FA3F74F9}"/>
              </a:ext>
            </a:extLst>
          </p:cNvPr>
          <p:cNvSpPr txBox="1"/>
          <p:nvPr/>
        </p:nvSpPr>
        <p:spPr>
          <a:xfrm>
            <a:off x="15575531" y="880974"/>
            <a:ext cx="143472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CONCLUSION</a:t>
            </a:r>
          </a:p>
        </p:txBody>
      </p:sp>
      <p:sp>
        <p:nvSpPr>
          <p:cNvPr id="5" name="TextBox 4">
            <a:extLst>
              <a:ext uri="{FF2B5EF4-FFF2-40B4-BE49-F238E27FC236}">
                <a16:creationId xmlns:a16="http://schemas.microsoft.com/office/drawing/2014/main" id="{F1DBC21B-A583-16E3-FCC6-4690098D89B2}"/>
              </a:ext>
            </a:extLst>
          </p:cNvPr>
          <p:cNvSpPr txBox="1"/>
          <p:nvPr/>
        </p:nvSpPr>
        <p:spPr>
          <a:xfrm>
            <a:off x="3569725" y="252640"/>
            <a:ext cx="13601564" cy="1015663"/>
          </a:xfrm>
          <a:prstGeom prst="rect">
            <a:avLst/>
          </a:prstGeom>
          <a:noFill/>
        </p:spPr>
        <p:txBody>
          <a:bodyPr wrap="square" rtlCol="0">
            <a:spAutoFit/>
          </a:bodyPr>
          <a:lstStyle/>
          <a:p>
            <a:r>
              <a:rPr lang="en-PH" sz="6000" dirty="0">
                <a:solidFill>
                  <a:srgbClr val="FF0000"/>
                </a:solidFill>
                <a:latin typeface="Times New Roman" panose="02020603050405020304" pitchFamily="18" charset="0"/>
                <a:cs typeface="Times New Roman" panose="02020603050405020304" pitchFamily="18" charset="0"/>
              </a:rPr>
              <a:t>Summary of Preliminary Survey Results</a:t>
            </a:r>
            <a:endParaRPr lang="en-US" sz="6000" dirty="0">
              <a:solidFill>
                <a:srgbClr val="FF000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58C9C51-F23A-BA9B-739C-3D56F292ADA2}"/>
              </a:ext>
            </a:extLst>
          </p:cNvPr>
          <p:cNvSpPr txBox="1"/>
          <p:nvPr/>
        </p:nvSpPr>
        <p:spPr>
          <a:xfrm>
            <a:off x="2667000" y="1270308"/>
            <a:ext cx="14815442" cy="6863417"/>
          </a:xfrm>
          <a:prstGeom prst="rect">
            <a:avLst/>
          </a:prstGeom>
          <a:noFill/>
        </p:spPr>
        <p:txBody>
          <a:bodyPr wrap="square" rtlCol="0">
            <a:spAutoFit/>
          </a:bodyPr>
          <a:lstStyle/>
          <a:p>
            <a:pPr algn="just"/>
            <a:r>
              <a:rPr lang="en-PH" sz="4400" dirty="0">
                <a:latin typeface="Times New Roman" panose="02020603050405020304" pitchFamily="18" charset="0"/>
                <a:cs typeface="Times New Roman" panose="02020603050405020304" pitchFamily="18" charset="0"/>
              </a:rPr>
              <a:t>However, the results also show that approaching participants is difficult for nearly all respondents, and participants do not consistently respond to messages or requests. Scheduling communication and participant availability were reported as frequent barriers. Since the preliminary survey covered only selected factors, other factors not included may also affect communication with research participants. These findings provide an initial basis for further examining the factors affecting communication with research participants among Grade 12 students.</a:t>
            </a:r>
            <a:endParaRPr lang="en-PH" sz="4100" dirty="0">
              <a:latin typeface="Times New Roman" panose="02020603050405020304" pitchFamily="18" charset="0"/>
              <a:cs typeface="Times New Roman" panose="02020603050405020304" pitchFamily="18" charset="0"/>
            </a:endParaRPr>
          </a:p>
        </p:txBody>
      </p:sp>
      <p:sp>
        <p:nvSpPr>
          <p:cNvPr id="4" name="Arrow: Pentagon 3">
            <a:extLst>
              <a:ext uri="{FF2B5EF4-FFF2-40B4-BE49-F238E27FC236}">
                <a16:creationId xmlns:a16="http://schemas.microsoft.com/office/drawing/2014/main" id="{A40EC3B6-2315-E0D9-954F-B38FA0C02C05}"/>
              </a:ext>
            </a:extLst>
          </p:cNvPr>
          <p:cNvSpPr/>
          <p:nvPr/>
        </p:nvSpPr>
        <p:spPr>
          <a:xfrm rot="5400000">
            <a:off x="-3245862" y="3726442"/>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8534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61B39-F301-68EA-EEC0-AE4B1DD59758}"/>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7C9E3E6A-3CD5-31BC-F1A5-F67A466A79C6}"/>
              </a:ext>
            </a:extLst>
          </p:cNvPr>
          <p:cNvSpPr/>
          <p:nvPr/>
        </p:nvSpPr>
        <p:spPr>
          <a:xfrm>
            <a:off x="11311046" y="789098"/>
            <a:ext cx="423497" cy="479205"/>
          </a:xfrm>
          <a:custGeom>
            <a:avLst/>
            <a:gdLst/>
            <a:ahLst/>
            <a:cxnLst/>
            <a:rect l="l" t="t" r="r" b="b"/>
            <a:pathLst>
              <a:path w="423497" h="479205">
                <a:moveTo>
                  <a:pt x="0" y="0"/>
                </a:moveTo>
                <a:lnTo>
                  <a:pt x="423497" y="0"/>
                </a:lnTo>
                <a:lnTo>
                  <a:pt x="423497" y="479204"/>
                </a:lnTo>
                <a:lnTo>
                  <a:pt x="0" y="4792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6" name="TextBox 6">
            <a:extLst>
              <a:ext uri="{FF2B5EF4-FFF2-40B4-BE49-F238E27FC236}">
                <a16:creationId xmlns:a16="http://schemas.microsoft.com/office/drawing/2014/main" id="{A3964C6E-363A-8CC4-8463-6FAA96F5DD37}"/>
              </a:ext>
            </a:extLst>
          </p:cNvPr>
          <p:cNvSpPr txBox="1"/>
          <p:nvPr/>
        </p:nvSpPr>
        <p:spPr>
          <a:xfrm>
            <a:off x="1147191" y="880974"/>
            <a:ext cx="2628794"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BorcellE UNIVERSITY</a:t>
            </a:r>
          </a:p>
        </p:txBody>
      </p:sp>
      <p:sp>
        <p:nvSpPr>
          <p:cNvPr id="7" name="TextBox 7">
            <a:extLst>
              <a:ext uri="{FF2B5EF4-FFF2-40B4-BE49-F238E27FC236}">
                <a16:creationId xmlns:a16="http://schemas.microsoft.com/office/drawing/2014/main" id="{171EF999-D846-E045-8A04-CB3EFA3E10DF}"/>
              </a:ext>
            </a:extLst>
          </p:cNvPr>
          <p:cNvSpPr txBox="1"/>
          <p:nvPr/>
        </p:nvSpPr>
        <p:spPr>
          <a:xfrm>
            <a:off x="12120038" y="880974"/>
            <a:ext cx="76416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HOME</a:t>
            </a:r>
          </a:p>
        </p:txBody>
      </p:sp>
      <p:sp>
        <p:nvSpPr>
          <p:cNvPr id="8" name="TextBox 8">
            <a:extLst>
              <a:ext uri="{FF2B5EF4-FFF2-40B4-BE49-F238E27FC236}">
                <a16:creationId xmlns:a16="http://schemas.microsoft.com/office/drawing/2014/main" id="{1ADF09E0-F84C-0E04-C9BA-C99ADF3466CA}"/>
              </a:ext>
            </a:extLst>
          </p:cNvPr>
          <p:cNvSpPr txBox="1"/>
          <p:nvPr/>
        </p:nvSpPr>
        <p:spPr>
          <a:xfrm>
            <a:off x="13236623" y="880974"/>
            <a:ext cx="764161" cy="277407"/>
          </a:xfrm>
          <a:prstGeom prst="rect">
            <a:avLst/>
          </a:prstGeom>
        </p:spPr>
        <p:txBody>
          <a:bodyPr lIns="0" tIns="0" rIns="0" bIns="0" rtlCol="0" anchor="t">
            <a:spAutoFit/>
          </a:bodyPr>
          <a:lstStyle/>
          <a:p>
            <a:pPr algn="l">
              <a:lnSpc>
                <a:spcPts val="2171"/>
              </a:lnSpc>
            </a:pPr>
            <a:r>
              <a:rPr lang="en-US" sz="1817" b="1" u="sng" spc="-75">
                <a:solidFill>
                  <a:srgbClr val="FFFFFF"/>
                </a:solidFill>
                <a:latin typeface="Roboto Bold"/>
                <a:ea typeface="Roboto Bold"/>
                <a:cs typeface="Roboto Bold"/>
                <a:sym typeface="Roboto Bold"/>
              </a:rPr>
              <a:t>ABOUT</a:t>
            </a:r>
          </a:p>
        </p:txBody>
      </p:sp>
      <p:sp>
        <p:nvSpPr>
          <p:cNvPr id="9" name="TextBox 9">
            <a:extLst>
              <a:ext uri="{FF2B5EF4-FFF2-40B4-BE49-F238E27FC236}">
                <a16:creationId xmlns:a16="http://schemas.microsoft.com/office/drawing/2014/main" id="{5869BB07-BC0F-3451-081D-86D29A364C92}"/>
              </a:ext>
            </a:extLst>
          </p:cNvPr>
          <p:cNvSpPr txBox="1"/>
          <p:nvPr/>
        </p:nvSpPr>
        <p:spPr>
          <a:xfrm>
            <a:off x="14353209" y="880974"/>
            <a:ext cx="100038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RESULT</a:t>
            </a:r>
          </a:p>
        </p:txBody>
      </p:sp>
      <p:sp>
        <p:nvSpPr>
          <p:cNvPr id="10" name="TextBox 10">
            <a:extLst>
              <a:ext uri="{FF2B5EF4-FFF2-40B4-BE49-F238E27FC236}">
                <a16:creationId xmlns:a16="http://schemas.microsoft.com/office/drawing/2014/main" id="{C3767008-14E6-F966-1B54-0428F56853F7}"/>
              </a:ext>
            </a:extLst>
          </p:cNvPr>
          <p:cNvSpPr txBox="1"/>
          <p:nvPr/>
        </p:nvSpPr>
        <p:spPr>
          <a:xfrm>
            <a:off x="15575531" y="880974"/>
            <a:ext cx="1434721" cy="277407"/>
          </a:xfrm>
          <a:prstGeom prst="rect">
            <a:avLst/>
          </a:prstGeom>
        </p:spPr>
        <p:txBody>
          <a:bodyPr lIns="0" tIns="0" rIns="0" bIns="0" rtlCol="0" anchor="t">
            <a:spAutoFit/>
          </a:bodyPr>
          <a:lstStyle/>
          <a:p>
            <a:pPr algn="l">
              <a:lnSpc>
                <a:spcPts val="2171"/>
              </a:lnSpc>
            </a:pPr>
            <a:r>
              <a:rPr lang="en-US" sz="1817" spc="-75">
                <a:solidFill>
                  <a:srgbClr val="FFFFFF"/>
                </a:solidFill>
                <a:latin typeface="Roboto"/>
                <a:ea typeface="Roboto"/>
                <a:cs typeface="Roboto"/>
                <a:sym typeface="Roboto"/>
              </a:rPr>
              <a:t>CONCLUSION</a:t>
            </a:r>
          </a:p>
        </p:txBody>
      </p:sp>
      <p:sp>
        <p:nvSpPr>
          <p:cNvPr id="5" name="TextBox 4">
            <a:extLst>
              <a:ext uri="{FF2B5EF4-FFF2-40B4-BE49-F238E27FC236}">
                <a16:creationId xmlns:a16="http://schemas.microsoft.com/office/drawing/2014/main" id="{A6454ADA-3545-8855-29B0-56B438E9841E}"/>
              </a:ext>
            </a:extLst>
          </p:cNvPr>
          <p:cNvSpPr txBox="1"/>
          <p:nvPr/>
        </p:nvSpPr>
        <p:spPr>
          <a:xfrm>
            <a:off x="25400" y="252640"/>
            <a:ext cx="10602773" cy="1015663"/>
          </a:xfrm>
          <a:prstGeom prst="rect">
            <a:avLst/>
          </a:prstGeom>
          <a:noFill/>
        </p:spPr>
        <p:txBody>
          <a:bodyPr wrap="square" rtlCol="0">
            <a:spAutoFit/>
          </a:bodyPr>
          <a:lstStyle/>
          <a:p>
            <a:pPr algn="ctr"/>
            <a:r>
              <a:rPr lang="en-US" sz="6000" dirty="0">
                <a:solidFill>
                  <a:srgbClr val="FF0000"/>
                </a:solidFill>
                <a:latin typeface="Times New Roman" panose="02020603050405020304" pitchFamily="18" charset="0"/>
                <a:cs typeface="Times New Roman" panose="02020603050405020304" pitchFamily="18" charset="0"/>
              </a:rPr>
              <a:t>REFERENCES:</a:t>
            </a:r>
          </a:p>
        </p:txBody>
      </p:sp>
      <p:sp>
        <p:nvSpPr>
          <p:cNvPr id="13" name="TextBox 12">
            <a:extLst>
              <a:ext uri="{FF2B5EF4-FFF2-40B4-BE49-F238E27FC236}">
                <a16:creationId xmlns:a16="http://schemas.microsoft.com/office/drawing/2014/main" id="{791684FC-6194-2FB6-4197-FF4B39A6E804}"/>
              </a:ext>
            </a:extLst>
          </p:cNvPr>
          <p:cNvSpPr txBox="1"/>
          <p:nvPr/>
        </p:nvSpPr>
        <p:spPr>
          <a:xfrm>
            <a:off x="2743200" y="1418028"/>
            <a:ext cx="14815442" cy="7848302"/>
          </a:xfrm>
          <a:prstGeom prst="rect">
            <a:avLst/>
          </a:prstGeom>
          <a:noFill/>
        </p:spPr>
        <p:txBody>
          <a:bodyPr wrap="square" rtlCol="0">
            <a:spAutoFit/>
          </a:bodyPr>
          <a:lstStyle/>
          <a:p>
            <a:pPr indent="-180000"/>
            <a:r>
              <a:rPr lang="en-PH" sz="3600" dirty="0" err="1">
                <a:latin typeface="Times New Roman" panose="02020603050405020304" pitchFamily="18" charset="0"/>
                <a:cs typeface="Times New Roman" panose="02020603050405020304" pitchFamily="18" charset="0"/>
              </a:rPr>
              <a:t>Eeckhout</a:t>
            </a:r>
            <a:r>
              <a:rPr lang="en-PH" sz="3600" dirty="0">
                <a:latin typeface="Times New Roman" panose="02020603050405020304" pitchFamily="18" charset="0"/>
                <a:cs typeface="Times New Roman" panose="02020603050405020304" pitchFamily="18" charset="0"/>
              </a:rPr>
              <a:t>, D., Aelbrecht, K., &amp; Van Der </a:t>
            </a:r>
            <a:r>
              <a:rPr lang="en-PH" sz="3600" dirty="0" err="1">
                <a:latin typeface="Times New Roman" panose="02020603050405020304" pitchFamily="18" charset="0"/>
                <a:cs typeface="Times New Roman" panose="02020603050405020304" pitchFamily="18" charset="0"/>
              </a:rPr>
              <a:t>Straeten</a:t>
            </a:r>
            <a:r>
              <a:rPr lang="en-PH" sz="3600" dirty="0">
                <a:latin typeface="Times New Roman" panose="02020603050405020304" pitchFamily="18" charset="0"/>
                <a:cs typeface="Times New Roman" panose="02020603050405020304" pitchFamily="18" charset="0"/>
              </a:rPr>
              <a:t>, C. (2022). Informed consent: 	Research staff's perspectives and practical recommendations to improve 	research staff-participant communication. </a:t>
            </a:r>
            <a:r>
              <a:rPr lang="en-PH" sz="3600" i="1" dirty="0">
                <a:latin typeface="Times New Roman" panose="02020603050405020304" pitchFamily="18" charset="0"/>
                <a:cs typeface="Times New Roman" panose="02020603050405020304" pitchFamily="18" charset="0"/>
              </a:rPr>
              <a:t>Journal of Empirical Research 	on Human Research Ethics, </a:t>
            </a:r>
            <a:r>
              <a:rPr lang="en-PH" sz="3600" dirty="0">
                <a:latin typeface="Times New Roman" panose="02020603050405020304" pitchFamily="18" charset="0"/>
                <a:cs typeface="Times New Roman" panose="02020603050405020304" pitchFamily="18" charset="0"/>
              </a:rPr>
              <a:t>18(1–2), 3–12. 	</a:t>
            </a:r>
            <a:r>
              <a:rPr lang="en-PH" sz="3600" b="1" u="sng" dirty="0">
                <a:latin typeface="Times New Roman" panose="02020603050405020304" pitchFamily="18" charset="0"/>
                <a:cs typeface="Times New Roman" panose="02020603050405020304" pitchFamily="18" charset="0"/>
                <a:hlinkClick r:id="rId4"/>
              </a:rPr>
              <a:t>https://doi.org/10.1177/15562646221146043</a:t>
            </a:r>
            <a:endParaRPr lang="en-PH" sz="3600" b="1" u="sng" dirty="0">
              <a:latin typeface="Times New Roman" panose="02020603050405020304" pitchFamily="18" charset="0"/>
              <a:cs typeface="Times New Roman" panose="02020603050405020304" pitchFamily="18" charset="0"/>
            </a:endParaRPr>
          </a:p>
          <a:p>
            <a:pPr indent="-180000"/>
            <a:r>
              <a:rPr lang="en-PH" sz="3600" dirty="0">
                <a:latin typeface="Times New Roman" panose="02020603050405020304" pitchFamily="18" charset="0"/>
                <a:cs typeface="Times New Roman" panose="02020603050405020304" pitchFamily="18" charset="0"/>
              </a:rPr>
              <a:t>Gelinas, L., Morrell, W., White, S. A., &amp; Bierer, B. E. (2021). Online research 	participant communication: </a:t>
            </a:r>
            <a:r>
              <a:rPr lang="en-PH" sz="3600" i="1" dirty="0">
                <a:latin typeface="Times New Roman" panose="02020603050405020304" pitchFamily="18" charset="0"/>
                <a:cs typeface="Times New Roman" panose="02020603050405020304" pitchFamily="18" charset="0"/>
              </a:rPr>
              <a:t>Balancing benefits and risks. Ethics &amp; Human 	Research, 43</a:t>
            </a:r>
            <a:r>
              <a:rPr lang="en-PH" sz="3600" dirty="0">
                <a:latin typeface="Times New Roman" panose="02020603050405020304" pitchFamily="18" charset="0"/>
                <a:cs typeface="Times New Roman" panose="02020603050405020304" pitchFamily="18" charset="0"/>
              </a:rPr>
              <a:t>(4), 2–10. </a:t>
            </a:r>
          </a:p>
          <a:p>
            <a:pPr indent="-180000"/>
            <a:r>
              <a:rPr lang="en-PH" sz="3600" b="1" u="sng" dirty="0">
                <a:latin typeface="Times New Roman" panose="02020603050405020304" pitchFamily="18" charset="0"/>
                <a:cs typeface="Times New Roman" panose="02020603050405020304" pitchFamily="18" charset="0"/>
                <a:hlinkClick r:id="rId5"/>
              </a:rPr>
              <a:t>	https://doi.org/10.1002/eahr.500094</a:t>
            </a:r>
            <a:r>
              <a:rPr lang="en-PH" sz="3600" dirty="0">
                <a:latin typeface="Times New Roman" panose="02020603050405020304" pitchFamily="18" charset="0"/>
                <a:cs typeface="Times New Roman" panose="02020603050405020304" pitchFamily="18" charset="0"/>
              </a:rPr>
              <a:t> </a:t>
            </a:r>
            <a:br>
              <a:rPr lang="en-PH" sz="3600" dirty="0">
                <a:latin typeface="Times New Roman" panose="02020603050405020304" pitchFamily="18" charset="0"/>
                <a:cs typeface="Times New Roman" panose="02020603050405020304" pitchFamily="18" charset="0"/>
              </a:rPr>
            </a:br>
            <a:r>
              <a:rPr lang="en-PH" sz="3600" dirty="0">
                <a:latin typeface="Times New Roman" panose="02020603050405020304" pitchFamily="18" charset="0"/>
                <a:cs typeface="Times New Roman" panose="02020603050405020304" pitchFamily="18" charset="0"/>
              </a:rPr>
              <a:t>Namey, E., Guest, G., O'Regan, A., Godwin, C. L., Taylor, J., &amp; Martinez, A. 	(2021). How does qualitative data collection modality affect disclosure of 	sensitive information and participant experience? </a:t>
            </a:r>
            <a:r>
              <a:rPr lang="en-PH" sz="3600" i="1" dirty="0">
                <a:latin typeface="Times New Roman" panose="02020603050405020304" pitchFamily="18" charset="0"/>
                <a:cs typeface="Times New Roman" panose="02020603050405020304" pitchFamily="18" charset="0"/>
              </a:rPr>
              <a:t>Findings from a quasi-	experimental study. Quality &amp; Quantity, 56</a:t>
            </a:r>
            <a:r>
              <a:rPr lang="en-PH" sz="3600" dirty="0">
                <a:latin typeface="Times New Roman" panose="02020603050405020304" pitchFamily="18" charset="0"/>
                <a:cs typeface="Times New Roman" panose="02020603050405020304" pitchFamily="18" charset="0"/>
              </a:rPr>
              <a:t>, 2341–2360. 	</a:t>
            </a:r>
            <a:r>
              <a:rPr lang="en-PH" sz="3600" b="1" u="sng" dirty="0">
                <a:latin typeface="Times New Roman" panose="02020603050405020304" pitchFamily="18" charset="0"/>
                <a:cs typeface="Times New Roman" panose="02020603050405020304" pitchFamily="18" charset="0"/>
                <a:hlinkClick r:id="rId6"/>
              </a:rPr>
              <a:t>https://doi.org/10.1007/s11135-021-01217-4</a:t>
            </a:r>
            <a:endParaRPr lang="en-PH" sz="3600" dirty="0">
              <a:latin typeface="Times New Roman" panose="02020603050405020304" pitchFamily="18" charset="0"/>
              <a:cs typeface="Times New Roman" panose="02020603050405020304" pitchFamily="18" charset="0"/>
            </a:endParaRPr>
          </a:p>
        </p:txBody>
      </p:sp>
      <p:sp>
        <p:nvSpPr>
          <p:cNvPr id="4" name="Arrow: Pentagon 3">
            <a:extLst>
              <a:ext uri="{FF2B5EF4-FFF2-40B4-BE49-F238E27FC236}">
                <a16:creationId xmlns:a16="http://schemas.microsoft.com/office/drawing/2014/main" id="{FCF81580-853F-8B2A-24F7-CB00C8249814}"/>
              </a:ext>
            </a:extLst>
          </p:cNvPr>
          <p:cNvSpPr/>
          <p:nvPr/>
        </p:nvSpPr>
        <p:spPr>
          <a:xfrm rot="5400000">
            <a:off x="-3245862" y="3726442"/>
            <a:ext cx="9071551" cy="1687372"/>
          </a:xfrm>
          <a:prstGeom prst="homePlate">
            <a:avLst/>
          </a:prstGeom>
          <a:solidFill>
            <a:srgbClr val="C00000">
              <a:alpha val="76863"/>
            </a:srgb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637610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1709</TotalTime>
  <Words>1242</Words>
  <Application>Microsoft Office PowerPoint</Application>
  <PresentationFormat>Custom</PresentationFormat>
  <Paragraphs>115</Paragraphs>
  <Slides>18</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Roboto</vt:lpstr>
      <vt:lpstr>Calibri</vt:lpstr>
      <vt:lpstr>Roboto Bold</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Maroon and White Modern Thesis Defense Presentation</dc:title>
  <dc:creator>Sarah Emala</dc:creator>
  <cp:lastModifiedBy>clrnzmndz16@gmail.com</cp:lastModifiedBy>
  <cp:revision>20</cp:revision>
  <dcterms:created xsi:type="dcterms:W3CDTF">2006-08-16T00:00:00Z</dcterms:created>
  <dcterms:modified xsi:type="dcterms:W3CDTF">2026-09-30T02:54:34Z</dcterms:modified>
  <dc:identifier>DAHLUmYA9No</dc:identifier>
</cp:coreProperties>
</file>